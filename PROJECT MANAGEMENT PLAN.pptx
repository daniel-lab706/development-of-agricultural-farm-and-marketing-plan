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stone Project" id="{7E5EB354-0017-431F-B128-F0EE479BCBB6}">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99"/>
    <a:srgbClr val="006699"/>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FA17A5-CD76-478D-9B51-3C4D25F59B77}"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EC2D1A-E380-42B4-A532-38311F917A7E}" type="slidenum">
              <a:rPr lang="en-US" smtClean="0"/>
              <a:t>‹#›</a:t>
            </a:fld>
            <a:endParaRPr lang="en-US"/>
          </a:p>
        </p:txBody>
      </p:sp>
    </p:spTree>
    <p:extLst>
      <p:ext uri="{BB962C8B-B14F-4D97-AF65-F5344CB8AC3E}">
        <p14:creationId xmlns:p14="http://schemas.microsoft.com/office/powerpoint/2010/main" val="3666373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9EC2D1A-E380-42B4-A532-38311F917A7E}" type="slidenum">
              <a:rPr lang="en-US" smtClean="0"/>
              <a:t>1</a:t>
            </a:fld>
            <a:endParaRPr lang="en-US"/>
          </a:p>
        </p:txBody>
      </p:sp>
    </p:spTree>
    <p:extLst>
      <p:ext uri="{BB962C8B-B14F-4D97-AF65-F5344CB8AC3E}">
        <p14:creationId xmlns:p14="http://schemas.microsoft.com/office/powerpoint/2010/main" val="2610663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9EC2D1A-E380-42B4-A532-38311F917A7E}" type="slidenum">
              <a:rPr lang="en-US" smtClean="0"/>
              <a:t>9</a:t>
            </a:fld>
            <a:endParaRPr lang="en-US"/>
          </a:p>
        </p:txBody>
      </p:sp>
    </p:spTree>
    <p:extLst>
      <p:ext uri="{BB962C8B-B14F-4D97-AF65-F5344CB8AC3E}">
        <p14:creationId xmlns:p14="http://schemas.microsoft.com/office/powerpoint/2010/main" val="2610324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39AB53F-5309-4CD9-8472-C45403DC621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287584-2E30-43C4-85C0-802498A80F54}" type="slidenum">
              <a:rPr lang="en-US" smtClean="0"/>
              <a:t>‹#›</a:t>
            </a:fld>
            <a:endParaRPr lang="en-US"/>
          </a:p>
        </p:txBody>
      </p:sp>
    </p:spTree>
    <p:extLst>
      <p:ext uri="{BB962C8B-B14F-4D97-AF65-F5344CB8AC3E}">
        <p14:creationId xmlns:p14="http://schemas.microsoft.com/office/powerpoint/2010/main" val="708214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9AB53F-5309-4CD9-8472-C45403DC621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287584-2E30-43C4-85C0-802498A80F54}" type="slidenum">
              <a:rPr lang="en-US" smtClean="0"/>
              <a:t>‹#›</a:t>
            </a:fld>
            <a:endParaRPr lang="en-US"/>
          </a:p>
        </p:txBody>
      </p:sp>
    </p:spTree>
    <p:extLst>
      <p:ext uri="{BB962C8B-B14F-4D97-AF65-F5344CB8AC3E}">
        <p14:creationId xmlns:p14="http://schemas.microsoft.com/office/powerpoint/2010/main" val="1434602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39AB53F-5309-4CD9-8472-C45403DC621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287584-2E30-43C4-85C0-802498A80F54}" type="slidenum">
              <a:rPr lang="en-US" smtClean="0"/>
              <a:t>‹#›</a:t>
            </a:fld>
            <a:endParaRPr lang="en-US"/>
          </a:p>
        </p:txBody>
      </p:sp>
    </p:spTree>
    <p:extLst>
      <p:ext uri="{BB962C8B-B14F-4D97-AF65-F5344CB8AC3E}">
        <p14:creationId xmlns:p14="http://schemas.microsoft.com/office/powerpoint/2010/main" val="127571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39AB53F-5309-4CD9-8472-C45403DC621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287584-2E30-43C4-85C0-802498A80F54}" type="slidenum">
              <a:rPr lang="en-US" smtClean="0"/>
              <a:t>‹#›</a:t>
            </a:fld>
            <a:endParaRPr lang="en-US"/>
          </a:p>
        </p:txBody>
      </p:sp>
    </p:spTree>
    <p:extLst>
      <p:ext uri="{BB962C8B-B14F-4D97-AF65-F5344CB8AC3E}">
        <p14:creationId xmlns:p14="http://schemas.microsoft.com/office/powerpoint/2010/main" val="3108081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39AB53F-5309-4CD9-8472-C45403DC621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287584-2E30-43C4-85C0-802498A80F54}" type="slidenum">
              <a:rPr lang="en-US" smtClean="0"/>
              <a:t>‹#›</a:t>
            </a:fld>
            <a:endParaRPr lang="en-US"/>
          </a:p>
        </p:txBody>
      </p:sp>
    </p:spTree>
    <p:extLst>
      <p:ext uri="{BB962C8B-B14F-4D97-AF65-F5344CB8AC3E}">
        <p14:creationId xmlns:p14="http://schemas.microsoft.com/office/powerpoint/2010/main" val="3825973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39AB53F-5309-4CD9-8472-C45403DC621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287584-2E30-43C4-85C0-802498A80F54}" type="slidenum">
              <a:rPr lang="en-US" smtClean="0"/>
              <a:t>‹#›</a:t>
            </a:fld>
            <a:endParaRPr lang="en-US"/>
          </a:p>
        </p:txBody>
      </p:sp>
    </p:spTree>
    <p:extLst>
      <p:ext uri="{BB962C8B-B14F-4D97-AF65-F5344CB8AC3E}">
        <p14:creationId xmlns:p14="http://schemas.microsoft.com/office/powerpoint/2010/main" val="1028891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9AB53F-5309-4CD9-8472-C45403DC621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287584-2E30-43C4-85C0-802498A80F54}" type="slidenum">
              <a:rPr lang="en-US" smtClean="0"/>
              <a:t>‹#›</a:t>
            </a:fld>
            <a:endParaRPr lang="en-US"/>
          </a:p>
        </p:txBody>
      </p:sp>
    </p:spTree>
    <p:extLst>
      <p:ext uri="{BB962C8B-B14F-4D97-AF65-F5344CB8AC3E}">
        <p14:creationId xmlns:p14="http://schemas.microsoft.com/office/powerpoint/2010/main" val="1254276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9AB53F-5309-4CD9-8472-C45403DC621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287584-2E30-43C4-85C0-802498A80F54}" type="slidenum">
              <a:rPr lang="en-US" smtClean="0"/>
              <a:t>‹#›</a:t>
            </a:fld>
            <a:endParaRPr lang="en-US"/>
          </a:p>
        </p:txBody>
      </p:sp>
    </p:spTree>
    <p:extLst>
      <p:ext uri="{BB962C8B-B14F-4D97-AF65-F5344CB8AC3E}">
        <p14:creationId xmlns:p14="http://schemas.microsoft.com/office/powerpoint/2010/main" val="3913675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9AB53F-5309-4CD9-8472-C45403DC621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287584-2E30-43C4-85C0-802498A80F54}" type="slidenum">
              <a:rPr lang="en-US" smtClean="0"/>
              <a:t>‹#›</a:t>
            </a:fld>
            <a:endParaRPr lang="en-US"/>
          </a:p>
        </p:txBody>
      </p:sp>
    </p:spTree>
    <p:extLst>
      <p:ext uri="{BB962C8B-B14F-4D97-AF65-F5344CB8AC3E}">
        <p14:creationId xmlns:p14="http://schemas.microsoft.com/office/powerpoint/2010/main" val="3449030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9AB53F-5309-4CD9-8472-C45403DC621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287584-2E30-43C4-85C0-802498A80F54}" type="slidenum">
              <a:rPr lang="en-US" smtClean="0"/>
              <a:t>‹#›</a:t>
            </a:fld>
            <a:endParaRPr lang="en-US"/>
          </a:p>
        </p:txBody>
      </p:sp>
    </p:spTree>
    <p:extLst>
      <p:ext uri="{BB962C8B-B14F-4D97-AF65-F5344CB8AC3E}">
        <p14:creationId xmlns:p14="http://schemas.microsoft.com/office/powerpoint/2010/main" val="760381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9AB53F-5309-4CD9-8472-C45403DC621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287584-2E30-43C4-85C0-802498A80F54}" type="slidenum">
              <a:rPr lang="en-US" smtClean="0"/>
              <a:t>‹#›</a:t>
            </a:fld>
            <a:endParaRPr lang="en-US"/>
          </a:p>
        </p:txBody>
      </p:sp>
    </p:spTree>
    <p:extLst>
      <p:ext uri="{BB962C8B-B14F-4D97-AF65-F5344CB8AC3E}">
        <p14:creationId xmlns:p14="http://schemas.microsoft.com/office/powerpoint/2010/main" val="285887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9AB53F-5309-4CD9-8472-C45403DC6214}" type="datetimeFigureOut">
              <a:rPr lang="en-US" smtClean="0"/>
              <a:t>10/21/2026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287584-2E30-43C4-85C0-802498A80F54}" type="slidenum">
              <a:rPr lang="en-US" smtClean="0"/>
              <a:t>‹#›</a:t>
            </a:fld>
            <a:endParaRPr lang="en-US"/>
          </a:p>
        </p:txBody>
      </p:sp>
    </p:spTree>
    <p:extLst>
      <p:ext uri="{BB962C8B-B14F-4D97-AF65-F5344CB8AC3E}">
        <p14:creationId xmlns:p14="http://schemas.microsoft.com/office/powerpoint/2010/main" val="3699384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13164" y="1768909"/>
            <a:ext cx="9144000" cy="2387600"/>
          </a:xfrm>
        </p:spPr>
        <p:txBody>
          <a:bodyPr>
            <a:normAutofit fontScale="90000"/>
          </a:bodyPr>
          <a:lstStyle/>
          <a:p>
            <a:r>
              <a:rPr lang="en-US" b="1" dirty="0" smtClean="0">
                <a:solidFill>
                  <a:srgbClr val="006699"/>
                </a:solidFill>
              </a:rPr>
              <a:t>PROJECT</a:t>
            </a:r>
            <a:r>
              <a:rPr lang="en-US" dirty="0" smtClean="0"/>
              <a:t> </a:t>
            </a:r>
            <a:r>
              <a:rPr lang="en-US" b="1" dirty="0" smtClean="0">
                <a:solidFill>
                  <a:srgbClr val="006699"/>
                </a:solidFill>
              </a:rPr>
              <a:t>MANAGEMENT</a:t>
            </a:r>
            <a:r>
              <a:rPr lang="en-US" dirty="0" smtClean="0"/>
              <a:t> </a:t>
            </a:r>
            <a:r>
              <a:rPr lang="en-US" b="1" dirty="0" smtClean="0">
                <a:solidFill>
                  <a:srgbClr val="006699"/>
                </a:solidFill>
              </a:rPr>
              <a:t>PLAN</a:t>
            </a:r>
            <a:r>
              <a:rPr lang="en-US" dirty="0" smtClean="0"/>
              <a:t>.</a:t>
            </a:r>
            <a:br>
              <a:rPr lang="en-US" dirty="0" smtClean="0"/>
            </a:br>
            <a:r>
              <a:rPr lang="en-US" dirty="0" smtClean="0"/>
              <a:t/>
            </a:r>
            <a:br>
              <a:rPr lang="en-US" dirty="0" smtClean="0"/>
            </a:br>
            <a:r>
              <a:rPr lang="en-US" sz="4000" i="1" dirty="0" smtClean="0">
                <a:solidFill>
                  <a:schemeClr val="accent1"/>
                </a:solidFill>
              </a:rPr>
              <a:t>Development</a:t>
            </a:r>
            <a:r>
              <a:rPr lang="en-US" dirty="0" smtClean="0"/>
              <a:t> </a:t>
            </a:r>
            <a:r>
              <a:rPr lang="en-US" sz="4000" i="1" dirty="0" smtClean="0">
                <a:solidFill>
                  <a:schemeClr val="accent1"/>
                </a:solidFill>
              </a:rPr>
              <a:t>Of</a:t>
            </a:r>
            <a:r>
              <a:rPr lang="en-US" dirty="0" smtClean="0"/>
              <a:t> </a:t>
            </a:r>
            <a:r>
              <a:rPr lang="en-US" sz="4000" i="1" dirty="0" smtClean="0">
                <a:solidFill>
                  <a:schemeClr val="accent1"/>
                </a:solidFill>
              </a:rPr>
              <a:t>Agricultural</a:t>
            </a:r>
            <a:r>
              <a:rPr lang="en-US" dirty="0" smtClean="0"/>
              <a:t> </a:t>
            </a:r>
            <a:r>
              <a:rPr lang="en-US" sz="4000" i="1" dirty="0" smtClean="0">
                <a:solidFill>
                  <a:schemeClr val="accent1"/>
                </a:solidFill>
              </a:rPr>
              <a:t>Farm</a:t>
            </a:r>
            <a:r>
              <a:rPr lang="en-US" sz="4000" dirty="0" smtClean="0">
                <a:solidFill>
                  <a:schemeClr val="accent1"/>
                </a:solidFill>
              </a:rPr>
              <a:t> </a:t>
            </a:r>
            <a:r>
              <a:rPr lang="en-US" sz="4000" i="1" dirty="0" smtClean="0">
                <a:solidFill>
                  <a:schemeClr val="accent1"/>
                </a:solidFill>
              </a:rPr>
              <a:t>and</a:t>
            </a:r>
            <a:r>
              <a:rPr lang="en-US" dirty="0" smtClean="0"/>
              <a:t> </a:t>
            </a:r>
            <a:r>
              <a:rPr lang="en-US" sz="4000" i="1" dirty="0" smtClean="0">
                <a:solidFill>
                  <a:schemeClr val="accent1"/>
                </a:solidFill>
              </a:rPr>
              <a:t>Marketing</a:t>
            </a:r>
            <a:r>
              <a:rPr lang="en-US" dirty="0" smtClean="0"/>
              <a:t> </a:t>
            </a:r>
            <a:r>
              <a:rPr lang="en-US" sz="4000" i="1" dirty="0" smtClean="0">
                <a:solidFill>
                  <a:schemeClr val="accent1"/>
                </a:solidFill>
              </a:rPr>
              <a:t>Plan</a:t>
            </a:r>
            <a:r>
              <a:rPr lang="en-US" dirty="0"/>
              <a:t/>
            </a:r>
            <a:br>
              <a:rPr lang="en-US" dirty="0"/>
            </a:br>
            <a:endParaRPr lang="en-US" sz="4000" i="1" dirty="0"/>
          </a:p>
        </p:txBody>
      </p:sp>
      <p:sp>
        <p:nvSpPr>
          <p:cNvPr id="3" name="Subtitle 2"/>
          <p:cNvSpPr>
            <a:spLocks noGrp="1"/>
          </p:cNvSpPr>
          <p:nvPr>
            <p:ph type="subTitle" idx="1"/>
          </p:nvPr>
        </p:nvSpPr>
        <p:spPr>
          <a:xfrm>
            <a:off x="1413164" y="4719638"/>
            <a:ext cx="9144000" cy="1655762"/>
          </a:xfrm>
        </p:spPr>
        <p:txBody>
          <a:bodyPr>
            <a:normAutofit fontScale="32500" lnSpcReduction="20000"/>
          </a:bodyPr>
          <a:lstStyle/>
          <a:p>
            <a:r>
              <a:rPr lang="en-US" sz="4900" i="1" dirty="0" smtClean="0"/>
              <a:t>Prepared</a:t>
            </a:r>
            <a:r>
              <a:rPr lang="en-US" dirty="0" smtClean="0"/>
              <a:t> </a:t>
            </a:r>
            <a:r>
              <a:rPr lang="en-US" sz="4900" i="1" dirty="0" smtClean="0"/>
              <a:t>by</a:t>
            </a:r>
            <a:r>
              <a:rPr lang="en-US" dirty="0" smtClean="0"/>
              <a:t>: </a:t>
            </a:r>
            <a:endParaRPr lang="en-US" dirty="0"/>
          </a:p>
          <a:p>
            <a:r>
              <a:rPr lang="en-US" sz="4900" i="1" dirty="0" smtClean="0"/>
              <a:t>Role</a:t>
            </a:r>
            <a:r>
              <a:rPr lang="en-US" dirty="0" smtClean="0"/>
              <a:t>:  </a:t>
            </a:r>
            <a:r>
              <a:rPr lang="en-US" sz="4900" i="1" dirty="0" smtClean="0"/>
              <a:t>Junior</a:t>
            </a:r>
            <a:r>
              <a:rPr lang="en-US" dirty="0" smtClean="0"/>
              <a:t> </a:t>
            </a:r>
            <a:r>
              <a:rPr lang="en-US" sz="4900" i="1" dirty="0" smtClean="0"/>
              <a:t>Project</a:t>
            </a:r>
            <a:r>
              <a:rPr lang="en-US" dirty="0" smtClean="0"/>
              <a:t> </a:t>
            </a:r>
            <a:r>
              <a:rPr lang="en-US" sz="4900" i="1" dirty="0" smtClean="0"/>
              <a:t>Manager</a:t>
            </a:r>
            <a:endParaRPr lang="en-US" sz="4900" i="1" dirty="0"/>
          </a:p>
          <a:p>
            <a:r>
              <a:rPr lang="en-US" sz="3500" i="1" dirty="0" err="1" smtClean="0"/>
              <a:t>Lagos,Nigeria</a:t>
            </a:r>
            <a:endParaRPr lang="en-US" sz="3500" i="1" dirty="0" smtClean="0"/>
          </a:p>
          <a:p>
            <a:endParaRPr lang="en-US" i="1" dirty="0" smtClean="0"/>
          </a:p>
          <a:p>
            <a:r>
              <a:rPr lang="en-US" i="1" dirty="0" smtClean="0"/>
              <a:t>Date: May 2026</a:t>
            </a:r>
          </a:p>
          <a:p>
            <a:endParaRPr lang="en-US" i="1" dirty="0"/>
          </a:p>
          <a:p>
            <a:r>
              <a:rPr lang="en-US" i="1" dirty="0" smtClean="0"/>
              <a:t>TS Academy- PM Capstone </a:t>
            </a:r>
            <a:r>
              <a:rPr lang="en-US" sz="2600" i="1" dirty="0" smtClean="0"/>
              <a:t>Submission</a:t>
            </a:r>
            <a:endParaRPr lang="en-US" sz="2600" i="1" dirty="0"/>
          </a:p>
        </p:txBody>
      </p:sp>
      <p:cxnSp>
        <p:nvCxnSpPr>
          <p:cNvPr id="5" name="Straight Connector 4"/>
          <p:cNvCxnSpPr/>
          <p:nvPr/>
        </p:nvCxnSpPr>
        <p:spPr>
          <a:xfrm flipH="1" flipV="1">
            <a:off x="6567057" y="4910209"/>
            <a:ext cx="3001816" cy="3536"/>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6567057" y="4553527"/>
            <a:ext cx="3001816" cy="369332"/>
          </a:xfrm>
          <a:prstGeom prst="rect">
            <a:avLst/>
          </a:prstGeom>
          <a:noFill/>
        </p:spPr>
        <p:txBody>
          <a:bodyPr wrap="square" rtlCol="0">
            <a:spAutoFit/>
          </a:bodyPr>
          <a:lstStyle/>
          <a:p>
            <a:r>
              <a:rPr lang="en-US" dirty="0" smtClean="0"/>
              <a:t>   </a:t>
            </a:r>
            <a:r>
              <a:rPr lang="en-US" sz="1600" dirty="0" err="1" smtClean="0"/>
              <a:t>Opeyemi</a:t>
            </a:r>
            <a:r>
              <a:rPr lang="en-US" sz="1600" i="1" dirty="0" smtClean="0"/>
              <a:t> </a:t>
            </a:r>
            <a:r>
              <a:rPr lang="en-US" sz="1600" dirty="0" smtClean="0"/>
              <a:t>Daniel</a:t>
            </a:r>
            <a:r>
              <a:rPr lang="en-US" sz="1600" i="1" dirty="0" smtClean="0"/>
              <a:t>.</a:t>
            </a:r>
            <a:endParaRPr lang="en-US" sz="1600" i="1" dirty="0"/>
          </a:p>
        </p:txBody>
      </p:sp>
    </p:spTree>
    <p:extLst>
      <p:ext uri="{BB962C8B-B14F-4D97-AF65-F5344CB8AC3E}">
        <p14:creationId xmlns:p14="http://schemas.microsoft.com/office/powerpoint/2010/main" val="21877593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960581" y="0"/>
            <a:ext cx="10640291" cy="7940635"/>
          </a:xfrm>
          <a:prstGeom prst="rect">
            <a:avLst/>
          </a:prstGeom>
          <a:noFill/>
        </p:spPr>
        <p:txBody>
          <a:bodyPr wrap="square" rtlCol="0">
            <a:spAutoFit/>
          </a:bodyPr>
          <a:lstStyle/>
          <a:p>
            <a:r>
              <a:rPr lang="en-US" sz="3600" dirty="0" smtClean="0">
                <a:solidFill>
                  <a:srgbClr val="006699"/>
                </a:solidFill>
              </a:rPr>
              <a:t>     </a:t>
            </a:r>
            <a:r>
              <a:rPr lang="en-US" sz="3600" dirty="0">
                <a:solidFill>
                  <a:srgbClr val="006699"/>
                </a:solidFill>
              </a:rPr>
              <a:t>S</a:t>
            </a:r>
            <a:r>
              <a:rPr lang="en-US" sz="3600" dirty="0" smtClean="0">
                <a:solidFill>
                  <a:srgbClr val="006699"/>
                </a:solidFill>
              </a:rPr>
              <a:t>ECTION 1</a:t>
            </a:r>
            <a:r>
              <a:rPr lang="en-US" sz="3600" dirty="0" smtClean="0"/>
              <a:t>: </a:t>
            </a:r>
            <a:r>
              <a:rPr lang="en-US" sz="3600" dirty="0" smtClean="0">
                <a:solidFill>
                  <a:srgbClr val="006699"/>
                </a:solidFill>
              </a:rPr>
              <a:t>Project</a:t>
            </a:r>
            <a:r>
              <a:rPr lang="en-US" sz="3600" dirty="0" smtClean="0"/>
              <a:t> </a:t>
            </a:r>
            <a:r>
              <a:rPr lang="en-US" sz="3600" dirty="0" smtClean="0">
                <a:solidFill>
                  <a:srgbClr val="006699"/>
                </a:solidFill>
              </a:rPr>
              <a:t>Selection</a:t>
            </a:r>
          </a:p>
          <a:p>
            <a:endParaRPr lang="en-US" sz="3600" dirty="0" smtClean="0">
              <a:solidFill>
                <a:srgbClr val="006699"/>
              </a:solidFill>
            </a:endParaRPr>
          </a:p>
          <a:p>
            <a:r>
              <a:rPr lang="en-US" sz="2000" dirty="0" smtClean="0">
                <a:solidFill>
                  <a:schemeClr val="accent1"/>
                </a:solidFill>
              </a:rPr>
              <a:t>         1.1</a:t>
            </a:r>
            <a:r>
              <a:rPr lang="en-US" sz="3600" dirty="0" smtClean="0">
                <a:solidFill>
                  <a:srgbClr val="006699"/>
                </a:solidFill>
              </a:rPr>
              <a:t> </a:t>
            </a:r>
            <a:r>
              <a:rPr lang="en-US" sz="2400" dirty="0" smtClean="0">
                <a:solidFill>
                  <a:schemeClr val="accent1"/>
                </a:solidFill>
              </a:rPr>
              <a:t>Project</a:t>
            </a:r>
            <a:r>
              <a:rPr lang="en-US" sz="3600" dirty="0" smtClean="0">
                <a:solidFill>
                  <a:srgbClr val="006699"/>
                </a:solidFill>
              </a:rPr>
              <a:t> </a:t>
            </a:r>
            <a:r>
              <a:rPr lang="en-US" sz="2400" dirty="0" smtClean="0">
                <a:solidFill>
                  <a:schemeClr val="accent1"/>
                </a:solidFill>
              </a:rPr>
              <a:t>Title</a:t>
            </a:r>
          </a:p>
          <a:p>
            <a:r>
              <a:rPr lang="en-US" dirty="0" smtClean="0"/>
              <a:t>          Development Of an Integrated Agricultural Farm And Marketing Management System.</a:t>
            </a:r>
          </a:p>
          <a:p>
            <a:endParaRPr lang="en-US" sz="2400" dirty="0"/>
          </a:p>
          <a:p>
            <a:r>
              <a:rPr lang="en-US" sz="2000" dirty="0" smtClean="0">
                <a:solidFill>
                  <a:schemeClr val="accent1"/>
                </a:solidFill>
              </a:rPr>
              <a:t>          1.2 </a:t>
            </a:r>
            <a:r>
              <a:rPr lang="en-US" sz="2400" dirty="0" smtClean="0">
                <a:solidFill>
                  <a:schemeClr val="accent1"/>
                </a:solidFill>
              </a:rPr>
              <a:t>Industry</a:t>
            </a:r>
            <a:r>
              <a:rPr lang="en-US" sz="2000" dirty="0" smtClean="0">
                <a:solidFill>
                  <a:schemeClr val="accent1"/>
                </a:solidFill>
              </a:rPr>
              <a:t> </a:t>
            </a:r>
          </a:p>
          <a:p>
            <a:r>
              <a:rPr lang="en-US" dirty="0" smtClean="0"/>
              <a:t>           Agriculture And Information Technology</a:t>
            </a:r>
            <a:endParaRPr lang="en-US" dirty="0"/>
          </a:p>
          <a:p>
            <a:endParaRPr lang="en-US" dirty="0" smtClean="0"/>
          </a:p>
          <a:p>
            <a:r>
              <a:rPr lang="en-US" dirty="0"/>
              <a:t> </a:t>
            </a:r>
            <a:r>
              <a:rPr lang="en-US" dirty="0" smtClean="0"/>
              <a:t>          </a:t>
            </a:r>
            <a:r>
              <a:rPr lang="en-US" sz="2000" dirty="0" smtClean="0">
                <a:solidFill>
                  <a:schemeClr val="accent1"/>
                </a:solidFill>
              </a:rPr>
              <a:t>1.3 </a:t>
            </a:r>
            <a:r>
              <a:rPr lang="en-US" sz="2400" dirty="0" smtClean="0">
                <a:solidFill>
                  <a:schemeClr val="accent1"/>
                </a:solidFill>
              </a:rPr>
              <a:t>Definition Of a Project</a:t>
            </a:r>
          </a:p>
          <a:p>
            <a:r>
              <a:rPr lang="en-US" sz="2400" dirty="0" smtClean="0">
                <a:solidFill>
                  <a:schemeClr val="accent1"/>
                </a:solidFill>
              </a:rPr>
              <a:t> </a:t>
            </a:r>
            <a:r>
              <a:rPr lang="en-US" sz="2000" dirty="0" smtClean="0"/>
              <a:t>A project</a:t>
            </a:r>
            <a:r>
              <a:rPr lang="en-US" sz="2400" dirty="0" smtClean="0"/>
              <a:t> </a:t>
            </a:r>
            <a:r>
              <a:rPr lang="en-US" sz="2000" dirty="0" smtClean="0"/>
              <a:t>is a</a:t>
            </a:r>
            <a:r>
              <a:rPr lang="en-US" sz="2400" dirty="0" smtClean="0"/>
              <a:t> </a:t>
            </a:r>
            <a:r>
              <a:rPr lang="en-US" sz="2000" dirty="0" smtClean="0"/>
              <a:t>temporary</a:t>
            </a:r>
            <a:r>
              <a:rPr lang="en-US" sz="2400" dirty="0" smtClean="0"/>
              <a:t> </a:t>
            </a:r>
            <a:r>
              <a:rPr lang="en-US" sz="2000" dirty="0" smtClean="0"/>
              <a:t>endeavor</a:t>
            </a:r>
            <a:r>
              <a:rPr lang="en-US" sz="2400" dirty="0" smtClean="0"/>
              <a:t> </a:t>
            </a:r>
            <a:r>
              <a:rPr lang="en-US" sz="2000" dirty="0" smtClean="0"/>
              <a:t>undertaken</a:t>
            </a:r>
            <a:r>
              <a:rPr lang="en-US" sz="2400" dirty="0" smtClean="0"/>
              <a:t> </a:t>
            </a:r>
            <a:r>
              <a:rPr lang="en-US" sz="2000" dirty="0" smtClean="0"/>
              <a:t>to</a:t>
            </a:r>
            <a:r>
              <a:rPr lang="en-US" sz="2400" dirty="0" smtClean="0"/>
              <a:t> </a:t>
            </a:r>
            <a:r>
              <a:rPr lang="en-US" sz="2000" dirty="0" smtClean="0"/>
              <a:t>create a</a:t>
            </a:r>
            <a:r>
              <a:rPr lang="en-US" sz="2400" dirty="0" smtClean="0"/>
              <a:t> </a:t>
            </a:r>
            <a:r>
              <a:rPr lang="en-US" sz="2000" dirty="0" smtClean="0"/>
              <a:t>unique</a:t>
            </a:r>
            <a:r>
              <a:rPr lang="en-US" sz="2400" dirty="0" smtClean="0"/>
              <a:t> </a:t>
            </a:r>
            <a:r>
              <a:rPr lang="en-US" sz="2000" dirty="0" smtClean="0"/>
              <a:t>product</a:t>
            </a:r>
            <a:r>
              <a:rPr lang="en-US" sz="2400" dirty="0" smtClean="0"/>
              <a:t>, </a:t>
            </a:r>
            <a:r>
              <a:rPr lang="en-US" sz="2000" dirty="0" smtClean="0"/>
              <a:t>service</a:t>
            </a:r>
            <a:r>
              <a:rPr lang="en-US" sz="2400" dirty="0" smtClean="0"/>
              <a:t>, </a:t>
            </a:r>
            <a:r>
              <a:rPr lang="en-US" sz="2000" dirty="0" smtClean="0"/>
              <a:t>or</a:t>
            </a:r>
            <a:r>
              <a:rPr lang="en-US" sz="2400" dirty="0" smtClean="0"/>
              <a:t> </a:t>
            </a:r>
            <a:r>
              <a:rPr lang="en-US" sz="2000" dirty="0" smtClean="0"/>
              <a:t>result</a:t>
            </a:r>
            <a:r>
              <a:rPr lang="en-US" sz="2400" dirty="0" smtClean="0"/>
              <a:t>. </a:t>
            </a:r>
            <a:r>
              <a:rPr lang="en-US" sz="2000" dirty="0" smtClean="0"/>
              <a:t>it</a:t>
            </a:r>
            <a:r>
              <a:rPr lang="en-US" sz="2400" dirty="0" smtClean="0"/>
              <a:t> </a:t>
            </a:r>
            <a:r>
              <a:rPr lang="en-US" sz="2000" dirty="0" smtClean="0"/>
              <a:t>             has a</a:t>
            </a:r>
            <a:r>
              <a:rPr lang="en-US" sz="2400" dirty="0" smtClean="0"/>
              <a:t> </a:t>
            </a:r>
            <a:r>
              <a:rPr lang="en-US" dirty="0" smtClean="0"/>
              <a:t>defined</a:t>
            </a:r>
            <a:r>
              <a:rPr lang="en-US" sz="2400" dirty="0" smtClean="0"/>
              <a:t> </a:t>
            </a:r>
            <a:r>
              <a:rPr lang="en-US" sz="2000" dirty="0" smtClean="0"/>
              <a:t>beginning</a:t>
            </a:r>
            <a:r>
              <a:rPr lang="en-US" sz="2400" dirty="0" smtClean="0"/>
              <a:t> </a:t>
            </a:r>
            <a:r>
              <a:rPr lang="en-US" sz="2000" dirty="0" smtClean="0"/>
              <a:t>and</a:t>
            </a:r>
            <a:r>
              <a:rPr lang="en-US" sz="2400" dirty="0" smtClean="0"/>
              <a:t> </a:t>
            </a:r>
            <a:r>
              <a:rPr lang="en-US" sz="2000" dirty="0" smtClean="0"/>
              <a:t>end</a:t>
            </a:r>
            <a:r>
              <a:rPr lang="en-US" sz="2400" dirty="0" smtClean="0"/>
              <a:t>, </a:t>
            </a:r>
            <a:r>
              <a:rPr lang="en-US" sz="2000" dirty="0" smtClean="0"/>
              <a:t>clear</a:t>
            </a:r>
            <a:r>
              <a:rPr lang="en-US" sz="2400" dirty="0" smtClean="0"/>
              <a:t> </a:t>
            </a:r>
            <a:r>
              <a:rPr lang="en-US" sz="2000" dirty="0" smtClean="0"/>
              <a:t>objectives</a:t>
            </a:r>
            <a:r>
              <a:rPr lang="en-US" sz="2400" dirty="0" smtClean="0"/>
              <a:t>, </a:t>
            </a:r>
            <a:r>
              <a:rPr lang="en-US" sz="2000" dirty="0" smtClean="0"/>
              <a:t>and</a:t>
            </a:r>
            <a:r>
              <a:rPr lang="en-US" sz="2400" dirty="0" smtClean="0"/>
              <a:t> </a:t>
            </a:r>
            <a:r>
              <a:rPr lang="en-US" sz="2000" dirty="0" smtClean="0"/>
              <a:t>is</a:t>
            </a:r>
            <a:r>
              <a:rPr lang="en-US" sz="2400" dirty="0" smtClean="0"/>
              <a:t> </a:t>
            </a:r>
            <a:r>
              <a:rPr lang="en-US" sz="2000" dirty="0" smtClean="0"/>
              <a:t>delivered</a:t>
            </a:r>
            <a:r>
              <a:rPr lang="en-US" sz="2400" dirty="0" smtClean="0"/>
              <a:t> </a:t>
            </a:r>
            <a:r>
              <a:rPr lang="en-US" sz="2000" dirty="0" smtClean="0"/>
              <a:t>within</a:t>
            </a:r>
            <a:r>
              <a:rPr lang="en-US" sz="2400" dirty="0" smtClean="0"/>
              <a:t> </a:t>
            </a:r>
            <a:r>
              <a:rPr lang="en-US" sz="2000" dirty="0" smtClean="0"/>
              <a:t>constraints</a:t>
            </a:r>
            <a:r>
              <a:rPr lang="en-US" sz="2400" dirty="0" smtClean="0"/>
              <a:t> </a:t>
            </a:r>
            <a:r>
              <a:rPr lang="en-US" sz="2000" dirty="0" smtClean="0"/>
              <a:t>of</a:t>
            </a:r>
            <a:r>
              <a:rPr lang="en-US" sz="2400" dirty="0" smtClean="0"/>
              <a:t> </a:t>
            </a:r>
            <a:r>
              <a:rPr lang="en-US" sz="2000" dirty="0" smtClean="0"/>
              <a:t>time</a:t>
            </a:r>
            <a:r>
              <a:rPr lang="en-US" sz="2400" dirty="0" smtClean="0"/>
              <a:t>, </a:t>
            </a:r>
            <a:r>
              <a:rPr lang="en-US" sz="2000" dirty="0" smtClean="0"/>
              <a:t>cost</a:t>
            </a:r>
            <a:r>
              <a:rPr lang="en-US" sz="2400" dirty="0" smtClean="0"/>
              <a:t> </a:t>
            </a:r>
            <a:r>
              <a:rPr lang="en-US" sz="2000" dirty="0" smtClean="0"/>
              <a:t>and</a:t>
            </a:r>
            <a:r>
              <a:rPr lang="en-US" sz="2400" dirty="0" smtClean="0"/>
              <a:t> </a:t>
            </a:r>
            <a:r>
              <a:rPr lang="en-US" sz="2000" dirty="0" smtClean="0"/>
              <a:t>scope</a:t>
            </a:r>
            <a:r>
              <a:rPr lang="en-US" sz="2400" dirty="0" smtClean="0"/>
              <a:t>.</a:t>
            </a:r>
          </a:p>
          <a:p>
            <a:r>
              <a:rPr lang="en-US" sz="2400" dirty="0" smtClean="0"/>
              <a:t>      </a:t>
            </a:r>
          </a:p>
          <a:p>
            <a:r>
              <a:rPr lang="en-US" sz="2400" dirty="0"/>
              <a:t> </a:t>
            </a:r>
            <a:r>
              <a:rPr lang="en-US" sz="2400" dirty="0" smtClean="0"/>
              <a:t>        </a:t>
            </a:r>
            <a:r>
              <a:rPr lang="en-US" sz="2400" dirty="0" smtClean="0">
                <a:solidFill>
                  <a:schemeClr val="accent1"/>
                </a:solidFill>
              </a:rPr>
              <a:t>1.4 Project Description</a:t>
            </a:r>
          </a:p>
          <a:p>
            <a:r>
              <a:rPr lang="en-US" sz="2400" dirty="0" smtClean="0">
                <a:solidFill>
                  <a:schemeClr val="accent1"/>
                </a:solidFill>
              </a:rPr>
              <a:t> </a:t>
            </a:r>
            <a:r>
              <a:rPr lang="en-US" sz="2000" dirty="0" smtClean="0"/>
              <a:t>This project focuses on the development of an integrated agricultural farm and marketing                    management system designed to improve farm operations, product management, sales tracking, customer communication, and agricultural product marketing. The system will help farmers manage records efficiently while connecting them directly with buyers through a digital platform.</a:t>
            </a:r>
          </a:p>
          <a:p>
            <a:r>
              <a:rPr lang="en-US" sz="2400" dirty="0" smtClean="0">
                <a:solidFill>
                  <a:schemeClr val="accent1"/>
                </a:solidFill>
              </a:rPr>
              <a:t>        </a:t>
            </a:r>
            <a:endParaRPr lang="en-US" sz="2400" dirty="0">
              <a:solidFill>
                <a:schemeClr val="accent1"/>
              </a:solidFill>
            </a:endParaRPr>
          </a:p>
          <a:p>
            <a:r>
              <a:rPr lang="en-US" sz="2400" dirty="0"/>
              <a:t> </a:t>
            </a:r>
            <a:r>
              <a:rPr lang="en-US" sz="2400" dirty="0" smtClean="0"/>
              <a:t>         </a:t>
            </a:r>
            <a:endParaRPr lang="en-US" sz="2400" dirty="0"/>
          </a:p>
          <a:p>
            <a:r>
              <a:rPr lang="en-US" sz="2400" dirty="0" smtClean="0"/>
              <a:t>         </a:t>
            </a:r>
            <a:endParaRPr lang="en-US" sz="2400" dirty="0"/>
          </a:p>
        </p:txBody>
      </p:sp>
      <p:cxnSp>
        <p:nvCxnSpPr>
          <p:cNvPr id="3" name="Straight Connector 2"/>
          <p:cNvCxnSpPr/>
          <p:nvPr/>
        </p:nvCxnSpPr>
        <p:spPr>
          <a:xfrm>
            <a:off x="591127" y="794327"/>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V="1">
            <a:off x="618837" y="858982"/>
            <a:ext cx="10363200" cy="1847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6287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9128" y="341743"/>
            <a:ext cx="11471563" cy="6494085"/>
          </a:xfrm>
          <a:prstGeom prst="rect">
            <a:avLst/>
          </a:prstGeom>
          <a:noFill/>
        </p:spPr>
        <p:txBody>
          <a:bodyPr wrap="square" rtlCol="0">
            <a:spAutoFit/>
          </a:bodyPr>
          <a:lstStyle/>
          <a:p>
            <a:r>
              <a:rPr lang="en-US" sz="3200" u="sng" dirty="0" smtClean="0">
                <a:solidFill>
                  <a:srgbClr val="336699"/>
                </a:solidFill>
              </a:rPr>
              <a:t>SECTION 2: Project Charter</a:t>
            </a:r>
          </a:p>
          <a:p>
            <a:endParaRPr lang="en-US" sz="3200" u="sng" dirty="0" smtClean="0">
              <a:solidFill>
                <a:srgbClr val="336699"/>
              </a:solidFill>
            </a:endParaRPr>
          </a:p>
          <a:p>
            <a:endParaRPr lang="en-US" sz="3200" u="sng" dirty="0">
              <a:solidFill>
                <a:srgbClr val="336699"/>
              </a:solidFill>
            </a:endParaRPr>
          </a:p>
          <a:p>
            <a:r>
              <a:rPr lang="en-US" sz="2400" dirty="0" smtClean="0">
                <a:solidFill>
                  <a:schemeClr val="accent1"/>
                </a:solidFill>
              </a:rPr>
              <a:t>PM Analysis- How to Approach the Charter</a:t>
            </a:r>
          </a:p>
          <a:p>
            <a:r>
              <a:rPr lang="en-US" sz="2000" dirty="0" smtClean="0"/>
              <a:t>The project charter is the foundational document that formally authorizes the project and gives the PM </a:t>
            </a:r>
          </a:p>
          <a:p>
            <a:r>
              <a:rPr lang="en-US" sz="2000" dirty="0"/>
              <a:t>t</a:t>
            </a:r>
            <a:r>
              <a:rPr lang="en-US" sz="2000" dirty="0" smtClean="0"/>
              <a:t>he</a:t>
            </a:r>
            <a:r>
              <a:rPr lang="en-US" sz="2400" dirty="0" smtClean="0"/>
              <a:t> </a:t>
            </a:r>
            <a:r>
              <a:rPr lang="en-US" sz="2000" dirty="0" smtClean="0"/>
              <a:t>authority to apply resources. For an system like agricultural and marketing plan in Nigeria, the </a:t>
            </a:r>
          </a:p>
          <a:p>
            <a:r>
              <a:rPr lang="en-US" sz="2000" dirty="0"/>
              <a:t>c</a:t>
            </a:r>
            <a:r>
              <a:rPr lang="en-US" sz="2000" dirty="0" smtClean="0"/>
              <a:t>harter must do more than list basic facts it must articulate a compelling business case that justifies the investment to sponsors, align stakeholders on objectives from day one, and set clear, measurable success criteria that will later inform project evaluation.</a:t>
            </a:r>
            <a:endParaRPr lang="en-US" sz="2000" dirty="0"/>
          </a:p>
          <a:p>
            <a:endParaRPr lang="en-US" sz="3200" u="sng" dirty="0" smtClean="0">
              <a:solidFill>
                <a:srgbClr val="336699"/>
              </a:solidFill>
            </a:endParaRPr>
          </a:p>
          <a:p>
            <a:endParaRPr lang="en-US" sz="3200" dirty="0">
              <a:solidFill>
                <a:schemeClr val="bg2"/>
              </a:solidFill>
            </a:endParaRPr>
          </a:p>
          <a:p>
            <a:r>
              <a:rPr lang="en-US" sz="2400" dirty="0" smtClean="0">
                <a:solidFill>
                  <a:srgbClr val="336699"/>
                </a:solidFill>
              </a:rPr>
              <a:t>Project </a:t>
            </a:r>
            <a:r>
              <a:rPr lang="en-US" sz="2400" dirty="0">
                <a:solidFill>
                  <a:srgbClr val="336699"/>
                </a:solidFill>
              </a:rPr>
              <a:t>T</a:t>
            </a:r>
            <a:r>
              <a:rPr lang="en-US" sz="2400" dirty="0" smtClean="0">
                <a:solidFill>
                  <a:srgbClr val="336699"/>
                </a:solidFill>
              </a:rPr>
              <a:t>itle                                    </a:t>
            </a:r>
            <a:r>
              <a:rPr lang="en-US" sz="2000" dirty="0" smtClean="0"/>
              <a:t>Development of an Integrated Agricultural Farm and</a:t>
            </a:r>
          </a:p>
          <a:p>
            <a:r>
              <a:rPr lang="en-US" sz="2000" dirty="0" smtClean="0">
                <a:solidFill>
                  <a:srgbClr val="336699"/>
                </a:solidFill>
              </a:rPr>
              <a:t>                                                                     </a:t>
            </a:r>
            <a:r>
              <a:rPr lang="en-US" sz="2000" dirty="0" smtClean="0"/>
              <a:t>Marketing Management System.</a:t>
            </a:r>
          </a:p>
          <a:p>
            <a:endParaRPr lang="en-US" sz="2000" dirty="0" smtClean="0"/>
          </a:p>
          <a:p>
            <a:r>
              <a:rPr lang="en-US" sz="2400" dirty="0" smtClean="0">
                <a:solidFill>
                  <a:srgbClr val="336699"/>
                </a:solidFill>
              </a:rPr>
              <a:t>Project Sponsor                             </a:t>
            </a:r>
            <a:r>
              <a:rPr lang="en-US" sz="2000" dirty="0" err="1" smtClean="0"/>
              <a:t>De’Fakuns</a:t>
            </a:r>
            <a:r>
              <a:rPr lang="en-US" sz="2000" dirty="0" smtClean="0"/>
              <a:t> Foundation, Linkage Company.</a:t>
            </a:r>
          </a:p>
          <a:p>
            <a:endParaRPr lang="en-US" sz="2000" dirty="0"/>
          </a:p>
          <a:p>
            <a:r>
              <a:rPr lang="en-US" sz="2400" dirty="0" smtClean="0">
                <a:solidFill>
                  <a:srgbClr val="336699"/>
                </a:solidFill>
              </a:rPr>
              <a:t>Project Manager                            </a:t>
            </a:r>
            <a:r>
              <a:rPr lang="en-US" sz="2000" dirty="0" err="1" smtClean="0"/>
              <a:t>Opeyemi</a:t>
            </a:r>
            <a:r>
              <a:rPr lang="en-US" sz="2000" dirty="0" smtClean="0"/>
              <a:t> Daniel ( Junior Project Manager).</a:t>
            </a:r>
          </a:p>
        </p:txBody>
      </p:sp>
      <p:sp>
        <p:nvSpPr>
          <p:cNvPr id="8" name="Rectangle 7"/>
          <p:cNvSpPr/>
          <p:nvPr/>
        </p:nvSpPr>
        <p:spPr>
          <a:xfrm>
            <a:off x="1099128" y="3979628"/>
            <a:ext cx="8950036"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CHARTER ELEMENT                                                                     DETAIL</a:t>
            </a:r>
            <a:endParaRPr lang="en-US" dirty="0"/>
          </a:p>
        </p:txBody>
      </p:sp>
      <p:cxnSp>
        <p:nvCxnSpPr>
          <p:cNvPr id="30" name="Straight Connector 29"/>
          <p:cNvCxnSpPr/>
          <p:nvPr/>
        </p:nvCxnSpPr>
        <p:spPr>
          <a:xfrm>
            <a:off x="4839855" y="4692073"/>
            <a:ext cx="18472" cy="2165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1330036" y="1339273"/>
            <a:ext cx="974436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1934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04575" y="235896"/>
            <a:ext cx="11801582" cy="6494085"/>
          </a:xfrm>
          <a:prstGeom prst="rect">
            <a:avLst/>
          </a:prstGeom>
          <a:noFill/>
        </p:spPr>
        <p:txBody>
          <a:bodyPr wrap="square" rtlCol="0">
            <a:spAutoFit/>
          </a:bodyPr>
          <a:lstStyle/>
          <a:p>
            <a:r>
              <a:rPr lang="en-US" sz="2400" dirty="0" smtClean="0">
                <a:solidFill>
                  <a:srgbClr val="336699"/>
                </a:solidFill>
              </a:rPr>
              <a:t>Project Start                                           </a:t>
            </a:r>
            <a:r>
              <a:rPr lang="en-US" sz="2000" dirty="0" smtClean="0"/>
              <a:t>July 1, 2026</a:t>
            </a:r>
          </a:p>
          <a:p>
            <a:endParaRPr lang="en-US" sz="2000" dirty="0"/>
          </a:p>
          <a:p>
            <a:r>
              <a:rPr lang="en-US" sz="2400" dirty="0" smtClean="0">
                <a:solidFill>
                  <a:srgbClr val="336699"/>
                </a:solidFill>
              </a:rPr>
              <a:t>Project End                                             </a:t>
            </a:r>
            <a:r>
              <a:rPr lang="en-US" sz="2000" dirty="0" err="1" smtClean="0"/>
              <a:t>Septemeber</a:t>
            </a:r>
            <a:r>
              <a:rPr lang="en-US" sz="2000" dirty="0" smtClean="0"/>
              <a:t> 2, 2026</a:t>
            </a:r>
          </a:p>
          <a:p>
            <a:endParaRPr lang="en-US" sz="2000" dirty="0" smtClean="0"/>
          </a:p>
          <a:p>
            <a:r>
              <a:rPr lang="en-US" sz="2400" dirty="0" smtClean="0">
                <a:solidFill>
                  <a:srgbClr val="336699"/>
                </a:solidFill>
              </a:rPr>
              <a:t>Estimated Budget                                  </a:t>
            </a:r>
            <a:r>
              <a:rPr lang="en-US" sz="2000" dirty="0" smtClean="0"/>
              <a:t>NGN 730,000</a:t>
            </a:r>
          </a:p>
          <a:p>
            <a:endParaRPr lang="en-US" sz="2000" dirty="0"/>
          </a:p>
          <a:p>
            <a:r>
              <a:rPr lang="en-US" sz="2400" dirty="0" smtClean="0">
                <a:solidFill>
                  <a:srgbClr val="336699"/>
                </a:solidFill>
              </a:rPr>
              <a:t>Business Case / Justification                </a:t>
            </a:r>
            <a:r>
              <a:rPr lang="en-US" sz="2000" dirty="0" smtClean="0"/>
              <a:t>Agricultural businesses face several operational challenges </a:t>
            </a:r>
            <a:r>
              <a:rPr lang="en-US" sz="2000" dirty="0" err="1" smtClean="0"/>
              <a:t>includ</a:t>
            </a:r>
            <a:r>
              <a:rPr lang="en-US" sz="2000" dirty="0" smtClean="0"/>
              <a:t>-</a:t>
            </a:r>
          </a:p>
          <a:p>
            <a:r>
              <a:rPr lang="en-US" sz="2000" dirty="0"/>
              <a:t> </a:t>
            </a:r>
            <a:r>
              <a:rPr lang="en-US" sz="2000" dirty="0" smtClean="0"/>
              <a:t>                                                                              </a:t>
            </a:r>
            <a:r>
              <a:rPr lang="en-US" sz="2000" dirty="0" err="1" smtClean="0"/>
              <a:t>ing</a:t>
            </a:r>
            <a:r>
              <a:rPr lang="en-US" sz="2000" dirty="0" smtClean="0"/>
              <a:t> poor record keeping, inefficient inventory management, lack of </a:t>
            </a:r>
          </a:p>
          <a:p>
            <a:r>
              <a:rPr lang="en-US" sz="2000" dirty="0"/>
              <a:t> </a:t>
            </a:r>
            <a:r>
              <a:rPr lang="en-US" sz="2000" dirty="0" smtClean="0"/>
              <a:t>                                                                              direct market access, inaccurate sales tracking, and low </a:t>
            </a:r>
            <a:r>
              <a:rPr lang="en-US" sz="2000" dirty="0" err="1" smtClean="0"/>
              <a:t>communic</a:t>
            </a:r>
            <a:r>
              <a:rPr lang="en-US" sz="2000" dirty="0" smtClean="0"/>
              <a:t>-</a:t>
            </a:r>
          </a:p>
          <a:p>
            <a:r>
              <a:rPr lang="en-US" sz="2000" dirty="0"/>
              <a:t> </a:t>
            </a:r>
            <a:r>
              <a:rPr lang="en-US" sz="2000" dirty="0" smtClean="0"/>
              <a:t>                                                                              </a:t>
            </a:r>
            <a:r>
              <a:rPr lang="en-US" sz="2000" dirty="0" err="1" smtClean="0"/>
              <a:t>ation</a:t>
            </a:r>
            <a:r>
              <a:rPr lang="en-US" sz="2000" dirty="0" smtClean="0"/>
              <a:t> between farmers and customers. Most small and medium-</a:t>
            </a:r>
            <a:r>
              <a:rPr lang="en-US" sz="2000" dirty="0" err="1" smtClean="0"/>
              <a:t>sca</a:t>
            </a:r>
            <a:endParaRPr lang="en-US" sz="2000" dirty="0"/>
          </a:p>
          <a:p>
            <a:r>
              <a:rPr lang="en-US" sz="2000" dirty="0" smtClean="0"/>
              <a:t>                                                                               le farmers still rely heavily on manual processes which often result </a:t>
            </a:r>
            <a:endParaRPr lang="en-US" sz="2000" dirty="0"/>
          </a:p>
          <a:p>
            <a:r>
              <a:rPr lang="en-US" sz="2000" dirty="0" smtClean="0"/>
              <a:t>                                                                               in errors, product wastage, and reduced profitability.</a:t>
            </a:r>
          </a:p>
          <a:p>
            <a:endParaRPr lang="en-US" sz="2000" dirty="0"/>
          </a:p>
          <a:p>
            <a:r>
              <a:rPr lang="en-US" sz="2000" dirty="0" smtClean="0"/>
              <a:t>                                                                               The proposed integrated agricultural farm and marketing manage</a:t>
            </a:r>
          </a:p>
          <a:p>
            <a:r>
              <a:rPr lang="en-US" sz="2000" dirty="0"/>
              <a:t> </a:t>
            </a:r>
            <a:r>
              <a:rPr lang="en-US" sz="2000" dirty="0" smtClean="0"/>
              <a:t>                                                                              </a:t>
            </a:r>
            <a:r>
              <a:rPr lang="en-US" sz="2000" dirty="0" err="1" smtClean="0"/>
              <a:t>ment</a:t>
            </a:r>
            <a:r>
              <a:rPr lang="en-US" sz="2000" dirty="0" smtClean="0"/>
              <a:t> system will provide a centralized digital platform for managing</a:t>
            </a:r>
          </a:p>
          <a:p>
            <a:r>
              <a:rPr lang="en-US" sz="2000" dirty="0"/>
              <a:t> </a:t>
            </a:r>
            <a:r>
              <a:rPr lang="en-US" sz="2000" dirty="0" smtClean="0"/>
              <a:t>                                                                              farm operations, tracking inventory, recording sales, managing </a:t>
            </a:r>
            <a:r>
              <a:rPr lang="en-US" sz="2000" dirty="0" err="1" smtClean="0"/>
              <a:t>cust</a:t>
            </a:r>
            <a:endParaRPr lang="en-US" sz="2000" dirty="0" smtClean="0"/>
          </a:p>
          <a:p>
            <a:r>
              <a:rPr lang="en-US" sz="2000" dirty="0"/>
              <a:t> </a:t>
            </a:r>
            <a:r>
              <a:rPr lang="en-US" sz="2000" dirty="0" smtClean="0"/>
              <a:t>                                                                              </a:t>
            </a:r>
            <a:r>
              <a:rPr lang="en-US" sz="2000" dirty="0" err="1" smtClean="0"/>
              <a:t>tomers</a:t>
            </a:r>
            <a:r>
              <a:rPr lang="en-US" sz="2000" dirty="0" smtClean="0"/>
              <a:t>, and promoting agricultural products online. This project</a:t>
            </a:r>
          </a:p>
          <a:p>
            <a:r>
              <a:rPr lang="en-US" sz="2000" dirty="0"/>
              <a:t> </a:t>
            </a:r>
            <a:r>
              <a:rPr lang="en-US" sz="2000" dirty="0" smtClean="0"/>
              <a:t>                                                                              will improve operational efficiency, reduce manual errors, and </a:t>
            </a:r>
          </a:p>
          <a:p>
            <a:r>
              <a:rPr lang="en-US" sz="2000" dirty="0"/>
              <a:t> </a:t>
            </a:r>
            <a:r>
              <a:rPr lang="en-US" sz="2000" dirty="0" smtClean="0"/>
              <a:t>                                                                              increase farmers’ access to wider markets.</a:t>
            </a:r>
            <a:endParaRPr lang="en-US" sz="2000" dirty="0"/>
          </a:p>
          <a:p>
            <a:r>
              <a:rPr lang="en-US" sz="2000" dirty="0" smtClean="0"/>
              <a:t>                                                                               </a:t>
            </a:r>
          </a:p>
        </p:txBody>
      </p:sp>
      <p:cxnSp>
        <p:nvCxnSpPr>
          <p:cNvPr id="10" name="Straight Connector 9"/>
          <p:cNvCxnSpPr/>
          <p:nvPr/>
        </p:nvCxnSpPr>
        <p:spPr>
          <a:xfrm flipH="1">
            <a:off x="3801438" y="287676"/>
            <a:ext cx="1027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695290" y="195209"/>
            <a:ext cx="0" cy="657546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6418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6981" y="101600"/>
            <a:ext cx="11868727" cy="6585527"/>
          </a:xfrm>
          <a:prstGeom prst="rect">
            <a:avLst/>
          </a:prstGeom>
          <a:noFill/>
        </p:spPr>
        <p:txBody>
          <a:bodyPr wrap="square" rtlCol="0">
            <a:spAutoFit/>
          </a:bodyPr>
          <a:lstStyle/>
          <a:p>
            <a:endParaRPr lang="en-US" dirty="0"/>
          </a:p>
        </p:txBody>
      </p:sp>
      <p:sp>
        <p:nvSpPr>
          <p:cNvPr id="9" name="TextBox 8"/>
          <p:cNvSpPr txBox="1"/>
          <p:nvPr/>
        </p:nvSpPr>
        <p:spPr>
          <a:xfrm>
            <a:off x="166255" y="101600"/>
            <a:ext cx="12025745" cy="6801862"/>
          </a:xfrm>
          <a:prstGeom prst="rect">
            <a:avLst/>
          </a:prstGeom>
          <a:noFill/>
        </p:spPr>
        <p:txBody>
          <a:bodyPr wrap="square" rtlCol="0">
            <a:spAutoFit/>
          </a:bodyPr>
          <a:lstStyle/>
          <a:p>
            <a:r>
              <a:rPr lang="en-US" sz="2400" dirty="0" smtClean="0">
                <a:solidFill>
                  <a:srgbClr val="336699"/>
                </a:solidFill>
              </a:rPr>
              <a:t>Project Objectives                                   </a:t>
            </a:r>
            <a:r>
              <a:rPr lang="en-US" sz="2000" dirty="0" smtClean="0"/>
              <a:t>1.  Develop a centralized farm management system.</a:t>
            </a:r>
          </a:p>
          <a:p>
            <a:r>
              <a:rPr lang="en-US" sz="2000" dirty="0" smtClean="0"/>
              <a:t>                                                                                 2.  Improve farm record keeping and inventory management.</a:t>
            </a:r>
          </a:p>
          <a:p>
            <a:r>
              <a:rPr lang="en-US" sz="2000" dirty="0"/>
              <a:t> </a:t>
            </a:r>
            <a:r>
              <a:rPr lang="en-US" sz="2000" dirty="0" smtClean="0"/>
              <a:t>                                                                                3.  Enable farmers to market products digitally. </a:t>
            </a:r>
          </a:p>
          <a:p>
            <a:r>
              <a:rPr lang="en-US" sz="2000" dirty="0"/>
              <a:t> </a:t>
            </a:r>
            <a:r>
              <a:rPr lang="en-US" sz="2000" dirty="0" smtClean="0"/>
              <a:t>                                                                                4.  Improve communication between farmers and customers.</a:t>
            </a:r>
          </a:p>
          <a:p>
            <a:r>
              <a:rPr lang="en-US" sz="2000" dirty="0"/>
              <a:t> </a:t>
            </a:r>
            <a:r>
              <a:rPr lang="en-US" sz="2000" dirty="0" smtClean="0"/>
              <a:t>                                                                                5.  Generate automated reports for decision-making.</a:t>
            </a:r>
          </a:p>
          <a:p>
            <a:r>
              <a:rPr lang="en-US" sz="2000" dirty="0"/>
              <a:t> </a:t>
            </a:r>
            <a:r>
              <a:rPr lang="en-US" sz="2000" dirty="0" smtClean="0"/>
              <a:t>                                                                                6.  Reduce operational inefficiencies associated with manual systems.</a:t>
            </a:r>
          </a:p>
          <a:p>
            <a:endParaRPr lang="en-US" sz="2000" dirty="0"/>
          </a:p>
          <a:p>
            <a:r>
              <a:rPr lang="en-US" sz="2400" dirty="0" smtClean="0">
                <a:solidFill>
                  <a:srgbClr val="336699"/>
                </a:solidFill>
              </a:rPr>
              <a:t>High-Level Scope                                      </a:t>
            </a:r>
            <a:r>
              <a:rPr lang="en-US" sz="2400" dirty="0" smtClean="0"/>
              <a:t>IN SCOPE:  </a:t>
            </a:r>
            <a:r>
              <a:rPr lang="en-US" sz="2000" dirty="0" smtClean="0"/>
              <a:t>User registration and login system, Farm inventory </a:t>
            </a:r>
          </a:p>
          <a:p>
            <a:r>
              <a:rPr lang="en-US" sz="2000" dirty="0"/>
              <a:t> </a:t>
            </a:r>
            <a:r>
              <a:rPr lang="en-US" sz="2000" dirty="0" smtClean="0"/>
              <a:t>                                                                                 management, Product management module, Sales and Transaction </a:t>
            </a:r>
          </a:p>
          <a:p>
            <a:r>
              <a:rPr lang="en-US" sz="2000" dirty="0"/>
              <a:t> </a:t>
            </a:r>
            <a:r>
              <a:rPr lang="en-US" sz="2000" dirty="0" smtClean="0"/>
              <a:t>                                                                                 tracking, Customer management, Marketing dashboard, Reporting </a:t>
            </a:r>
          </a:p>
          <a:p>
            <a:r>
              <a:rPr lang="en-US" sz="2000" dirty="0"/>
              <a:t> </a:t>
            </a:r>
            <a:r>
              <a:rPr lang="en-US" sz="2000" dirty="0" smtClean="0"/>
              <a:t>                                                                                 and analytics, Database management, User training and deployment.</a:t>
            </a:r>
          </a:p>
          <a:p>
            <a:endParaRPr lang="en-US" sz="2000" dirty="0"/>
          </a:p>
          <a:p>
            <a:r>
              <a:rPr lang="en-US" sz="2400" dirty="0" smtClean="0">
                <a:solidFill>
                  <a:srgbClr val="336699"/>
                </a:solidFill>
              </a:rPr>
              <a:t>Project Assumptions                                </a:t>
            </a:r>
            <a:r>
              <a:rPr lang="en-US" sz="2000" dirty="0" smtClean="0"/>
              <a:t>- Internet access will be available.</a:t>
            </a:r>
          </a:p>
          <a:p>
            <a:r>
              <a:rPr lang="en-US" sz="2000" dirty="0"/>
              <a:t> </a:t>
            </a:r>
            <a:r>
              <a:rPr lang="en-US" sz="2000" dirty="0" smtClean="0"/>
              <a:t>                                                                                  - User possess basic digital literacy.</a:t>
            </a:r>
          </a:p>
          <a:p>
            <a:r>
              <a:rPr lang="en-US" sz="2000" dirty="0"/>
              <a:t> </a:t>
            </a:r>
            <a:r>
              <a:rPr lang="en-US" sz="2000" dirty="0" smtClean="0"/>
              <a:t>                                                                                  - The project budget will be approved.</a:t>
            </a:r>
          </a:p>
          <a:p>
            <a:r>
              <a:rPr lang="en-US" sz="2000" dirty="0"/>
              <a:t> </a:t>
            </a:r>
            <a:r>
              <a:rPr lang="en-US" sz="2000" dirty="0" smtClean="0"/>
              <a:t>                                                                                  - Required hardware and software resources are available.</a:t>
            </a:r>
          </a:p>
          <a:p>
            <a:r>
              <a:rPr lang="en-US" sz="2000" dirty="0"/>
              <a:t> </a:t>
            </a:r>
            <a:r>
              <a:rPr lang="en-US" sz="2000" dirty="0" smtClean="0"/>
              <a:t>                                                                                  - Stakeholders will actively participate during development.</a:t>
            </a:r>
          </a:p>
          <a:p>
            <a:endParaRPr lang="en-US" sz="2000" dirty="0"/>
          </a:p>
          <a:p>
            <a:r>
              <a:rPr lang="en-US" sz="2400" dirty="0" smtClean="0">
                <a:solidFill>
                  <a:srgbClr val="336699"/>
                </a:solidFill>
              </a:rPr>
              <a:t>Success Criteria                                          </a:t>
            </a:r>
            <a:r>
              <a:rPr lang="en-US" sz="2000" dirty="0" smtClean="0"/>
              <a:t>The project will be considered successful if:</a:t>
            </a:r>
          </a:p>
          <a:p>
            <a:r>
              <a:rPr lang="en-US" sz="2000" dirty="0"/>
              <a:t> </a:t>
            </a:r>
            <a:r>
              <a:rPr lang="en-US" sz="2000" dirty="0" smtClean="0"/>
              <a:t>                                                                                   - The system is fully developed and deployed.</a:t>
            </a:r>
          </a:p>
          <a:p>
            <a:r>
              <a:rPr lang="en-US" sz="2000" dirty="0"/>
              <a:t> </a:t>
            </a:r>
            <a:r>
              <a:rPr lang="en-US" sz="2000" dirty="0" smtClean="0"/>
              <a:t>                                                                                   - User can manage farm records electronically.</a:t>
            </a:r>
          </a:p>
        </p:txBody>
      </p:sp>
      <p:cxnSp>
        <p:nvCxnSpPr>
          <p:cNvPr id="11" name="Straight Connector 10"/>
          <p:cNvCxnSpPr/>
          <p:nvPr/>
        </p:nvCxnSpPr>
        <p:spPr>
          <a:xfrm>
            <a:off x="4645891" y="101600"/>
            <a:ext cx="9236" cy="658552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0979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60218" y="-9236"/>
            <a:ext cx="11831782" cy="5324535"/>
          </a:xfrm>
          <a:prstGeom prst="rect">
            <a:avLst/>
          </a:prstGeom>
          <a:noFill/>
        </p:spPr>
        <p:txBody>
          <a:bodyPr wrap="square" rtlCol="0">
            <a:spAutoFit/>
          </a:bodyPr>
          <a:lstStyle/>
          <a:p>
            <a:r>
              <a:rPr lang="en-US" dirty="0" smtClean="0"/>
              <a:t>                                                                                      - Product marketing functions effectively.</a:t>
            </a:r>
          </a:p>
          <a:p>
            <a:r>
              <a:rPr lang="en-US" dirty="0"/>
              <a:t> </a:t>
            </a:r>
            <a:r>
              <a:rPr lang="en-US" dirty="0" smtClean="0"/>
              <a:t>                                                                                     - User satisfaction exceeds 90%.</a:t>
            </a:r>
          </a:p>
          <a:p>
            <a:r>
              <a:rPr lang="en-US" dirty="0"/>
              <a:t> </a:t>
            </a:r>
            <a:r>
              <a:rPr lang="en-US" dirty="0" smtClean="0"/>
              <a:t>                                                                                     - Manual record-keeping is significantly reduced.</a:t>
            </a:r>
          </a:p>
          <a:p>
            <a:endParaRPr lang="en-US" dirty="0"/>
          </a:p>
          <a:p>
            <a:r>
              <a:rPr lang="en-US" sz="2400" dirty="0" smtClean="0">
                <a:solidFill>
                  <a:srgbClr val="336699"/>
                </a:solidFill>
              </a:rPr>
              <a:t>Key Stakeholders                                    </a:t>
            </a:r>
            <a:r>
              <a:rPr lang="en-US" sz="2000" dirty="0" smtClean="0"/>
              <a:t>- De’ </a:t>
            </a:r>
            <a:r>
              <a:rPr lang="en-US" sz="2000" dirty="0" err="1" smtClean="0"/>
              <a:t>Fakuns</a:t>
            </a:r>
            <a:r>
              <a:rPr lang="en-US" sz="2000" dirty="0" smtClean="0"/>
              <a:t> Foundation, Linkage Company: (Project Sponsor) </a:t>
            </a:r>
          </a:p>
          <a:p>
            <a:r>
              <a:rPr lang="en-US" sz="2000" dirty="0"/>
              <a:t> </a:t>
            </a:r>
            <a:r>
              <a:rPr lang="en-US" sz="2000" dirty="0" smtClean="0"/>
              <a:t>                                                                               Provides funding and approval.</a:t>
            </a:r>
          </a:p>
          <a:p>
            <a:r>
              <a:rPr lang="en-US" sz="2000" dirty="0"/>
              <a:t> </a:t>
            </a:r>
            <a:r>
              <a:rPr lang="en-US" sz="2000" dirty="0" smtClean="0"/>
              <a:t>                                                                               - Project Manager: Oversees project and execution.</a:t>
            </a:r>
          </a:p>
          <a:p>
            <a:r>
              <a:rPr lang="en-US" sz="2000" dirty="0"/>
              <a:t> </a:t>
            </a:r>
            <a:r>
              <a:rPr lang="en-US" sz="2000" dirty="0" smtClean="0"/>
              <a:t>                                                                               - Developers:  Build the system.</a:t>
            </a:r>
          </a:p>
          <a:p>
            <a:r>
              <a:rPr lang="en-US" sz="2000" dirty="0"/>
              <a:t> </a:t>
            </a:r>
            <a:r>
              <a:rPr lang="en-US" sz="2000" dirty="0" smtClean="0"/>
              <a:t>                                                                               - Farmers: Primary users.</a:t>
            </a:r>
          </a:p>
          <a:p>
            <a:r>
              <a:rPr lang="en-US" sz="2000" dirty="0"/>
              <a:t> </a:t>
            </a:r>
            <a:r>
              <a:rPr lang="en-US" sz="2000" dirty="0" smtClean="0"/>
              <a:t>                                                                               - Customers: Purchase farm products.</a:t>
            </a:r>
          </a:p>
          <a:p>
            <a:r>
              <a:rPr lang="en-US" sz="2000" dirty="0"/>
              <a:t> </a:t>
            </a:r>
            <a:r>
              <a:rPr lang="en-US" sz="2000" dirty="0" smtClean="0"/>
              <a:t>                                                                               - Marketing Team: Promote products.</a:t>
            </a:r>
          </a:p>
          <a:p>
            <a:r>
              <a:rPr lang="en-US" sz="2000" dirty="0"/>
              <a:t> </a:t>
            </a:r>
            <a:r>
              <a:rPr lang="en-US" sz="2000" dirty="0" smtClean="0"/>
              <a:t>                                                                               - IT Support Team: System maintenance.</a:t>
            </a:r>
          </a:p>
          <a:p>
            <a:endParaRPr lang="en-US" sz="2000" dirty="0"/>
          </a:p>
          <a:p>
            <a:r>
              <a:rPr lang="en-US" sz="2400" dirty="0" smtClean="0">
                <a:solidFill>
                  <a:srgbClr val="336699"/>
                </a:solidFill>
              </a:rPr>
              <a:t>Project Constraints                                 </a:t>
            </a:r>
            <a:r>
              <a:rPr lang="en-US" sz="2000" dirty="0" smtClean="0"/>
              <a:t>- Limited project budget</a:t>
            </a:r>
          </a:p>
          <a:p>
            <a:r>
              <a:rPr lang="en-US" sz="2000" dirty="0"/>
              <a:t> </a:t>
            </a:r>
            <a:r>
              <a:rPr lang="en-US" sz="2000" dirty="0" smtClean="0"/>
              <a:t>                                                                               - Time limitations</a:t>
            </a:r>
          </a:p>
          <a:p>
            <a:r>
              <a:rPr lang="en-US" sz="2000" dirty="0"/>
              <a:t> </a:t>
            </a:r>
            <a:r>
              <a:rPr lang="en-US" sz="2000" dirty="0" smtClean="0"/>
              <a:t>                                                                               - Dependence on internet connectivity</a:t>
            </a:r>
          </a:p>
          <a:p>
            <a:r>
              <a:rPr lang="en-US" sz="2000" dirty="0"/>
              <a:t> </a:t>
            </a:r>
            <a:r>
              <a:rPr lang="en-US" sz="2000" dirty="0" smtClean="0"/>
              <a:t>                                                                               - Limited technical skills among some users</a:t>
            </a:r>
          </a:p>
        </p:txBody>
      </p:sp>
      <p:cxnSp>
        <p:nvCxnSpPr>
          <p:cNvPr id="9" name="Straight Connector 8"/>
          <p:cNvCxnSpPr/>
          <p:nvPr/>
        </p:nvCxnSpPr>
        <p:spPr>
          <a:xfrm>
            <a:off x="4775200" y="18473"/>
            <a:ext cx="9236" cy="685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983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84728"/>
            <a:ext cx="11822545" cy="6863417"/>
          </a:xfrm>
          <a:prstGeom prst="rect">
            <a:avLst/>
          </a:prstGeom>
          <a:noFill/>
        </p:spPr>
        <p:txBody>
          <a:bodyPr wrap="square" rtlCol="0">
            <a:spAutoFit/>
          </a:bodyPr>
          <a:lstStyle/>
          <a:p>
            <a:r>
              <a:rPr lang="en-US" sz="3200" dirty="0" smtClean="0">
                <a:solidFill>
                  <a:srgbClr val="336699"/>
                </a:solidFill>
              </a:rPr>
              <a:t>SECTION 3: Scope Baseline</a:t>
            </a:r>
          </a:p>
          <a:p>
            <a:endParaRPr lang="en-US" sz="3200" dirty="0" smtClean="0">
              <a:solidFill>
                <a:srgbClr val="336699"/>
              </a:solidFill>
            </a:endParaRPr>
          </a:p>
          <a:p>
            <a:endParaRPr lang="en-US" sz="2400" dirty="0" smtClean="0">
              <a:solidFill>
                <a:srgbClr val="336699"/>
              </a:solidFill>
            </a:endParaRPr>
          </a:p>
          <a:p>
            <a:r>
              <a:rPr lang="en-US" sz="2400" dirty="0">
                <a:solidFill>
                  <a:srgbClr val="336699"/>
                </a:solidFill>
              </a:rPr>
              <a:t>P</a:t>
            </a:r>
            <a:r>
              <a:rPr lang="en-US" sz="2400" dirty="0" smtClean="0">
                <a:solidFill>
                  <a:srgbClr val="336699"/>
                </a:solidFill>
              </a:rPr>
              <a:t>M Analysis- How to Approach Scope Management</a:t>
            </a:r>
          </a:p>
          <a:p>
            <a:r>
              <a:rPr lang="en-US" sz="2000" dirty="0" smtClean="0"/>
              <a:t>Scope management for an agricultural farm and marketing plan is one of the most important project in the </a:t>
            </a:r>
          </a:p>
          <a:p>
            <a:r>
              <a:rPr lang="en-US" sz="2000" dirty="0"/>
              <a:t>c</a:t>
            </a:r>
            <a:r>
              <a:rPr lang="en-US" sz="2000" dirty="0" smtClean="0"/>
              <a:t>ountry. Every stakeholder from the sponsors to speakers will have ideas about what to add. The PM’s role is </a:t>
            </a:r>
          </a:p>
          <a:p>
            <a:r>
              <a:rPr lang="en-US" sz="2000" dirty="0" smtClean="0"/>
              <a:t>to define a clear boundary between what is in and out of scope, baseline it formally, and enforce it through the</a:t>
            </a:r>
          </a:p>
          <a:p>
            <a:r>
              <a:rPr lang="en-US" sz="2000" dirty="0"/>
              <a:t>c</a:t>
            </a:r>
            <a:r>
              <a:rPr lang="en-US" sz="2000" dirty="0" smtClean="0"/>
              <a:t>hange control process.</a:t>
            </a:r>
          </a:p>
          <a:p>
            <a:endParaRPr lang="en-US" sz="2000" dirty="0"/>
          </a:p>
          <a:p>
            <a:r>
              <a:rPr lang="en-US" sz="2400" dirty="0" smtClean="0">
                <a:solidFill>
                  <a:srgbClr val="336699"/>
                </a:solidFill>
              </a:rPr>
              <a:t>3.1 Project Scope Statement</a:t>
            </a:r>
          </a:p>
          <a:p>
            <a:r>
              <a:rPr lang="en-US" sz="2000" dirty="0" smtClean="0"/>
              <a:t>The project involves  the design, development, testing, and deployment of an integrated agricultural farm and</a:t>
            </a:r>
          </a:p>
          <a:p>
            <a:r>
              <a:rPr lang="en-US" sz="2000" dirty="0" smtClean="0"/>
              <a:t>Marketing management system that enables efficient farm operation management and online agricultural pro</a:t>
            </a:r>
          </a:p>
          <a:p>
            <a:r>
              <a:rPr lang="en-US" sz="2000" dirty="0" smtClean="0"/>
              <a:t>duct marketing.</a:t>
            </a:r>
          </a:p>
          <a:p>
            <a:r>
              <a:rPr lang="en-US" sz="2000" dirty="0" smtClean="0"/>
              <a:t>The system will support inventory tracking, customer management, sales monitoring, product marketing, and</a:t>
            </a:r>
          </a:p>
          <a:p>
            <a:r>
              <a:rPr lang="en-US" sz="2000" dirty="0" smtClean="0"/>
              <a:t>Report generation.</a:t>
            </a:r>
          </a:p>
          <a:p>
            <a:endParaRPr lang="en-US" sz="2000" dirty="0"/>
          </a:p>
          <a:p>
            <a:r>
              <a:rPr lang="en-US" sz="2400" dirty="0" smtClean="0">
                <a:solidFill>
                  <a:srgbClr val="336699"/>
                </a:solidFill>
              </a:rPr>
              <a:t>3.2 Project Deliverables</a:t>
            </a:r>
          </a:p>
          <a:p>
            <a:r>
              <a:rPr lang="en-US" sz="2000" dirty="0" smtClean="0"/>
              <a:t>*  Requirement analysis document</a:t>
            </a:r>
          </a:p>
          <a:p>
            <a:r>
              <a:rPr lang="en-US" sz="2000" dirty="0" smtClean="0"/>
              <a:t>*  System design document</a:t>
            </a:r>
            <a:endParaRPr lang="en-US" sz="2000" dirty="0"/>
          </a:p>
          <a:p>
            <a:endParaRPr lang="en-US" sz="2000" dirty="0" smtClean="0"/>
          </a:p>
        </p:txBody>
      </p:sp>
      <p:cxnSp>
        <p:nvCxnSpPr>
          <p:cNvPr id="6" name="Straight Connector 5"/>
          <p:cNvCxnSpPr/>
          <p:nvPr/>
        </p:nvCxnSpPr>
        <p:spPr>
          <a:xfrm>
            <a:off x="858982" y="1080655"/>
            <a:ext cx="10160000" cy="3694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8425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4036" y="0"/>
            <a:ext cx="11877964" cy="5940088"/>
          </a:xfrm>
          <a:prstGeom prst="rect">
            <a:avLst/>
          </a:prstGeom>
          <a:noFill/>
        </p:spPr>
        <p:txBody>
          <a:bodyPr wrap="square" rtlCol="0">
            <a:spAutoFit/>
          </a:bodyPr>
          <a:lstStyle/>
          <a:p>
            <a:r>
              <a:rPr lang="en-US" dirty="0" smtClean="0"/>
              <a:t>*  Database design </a:t>
            </a:r>
          </a:p>
          <a:p>
            <a:r>
              <a:rPr lang="en-US" dirty="0" smtClean="0"/>
              <a:t>*  Fully functional software system</a:t>
            </a:r>
          </a:p>
          <a:p>
            <a:r>
              <a:rPr lang="en-US" dirty="0" smtClean="0"/>
              <a:t>*  User authentication module </a:t>
            </a:r>
          </a:p>
          <a:p>
            <a:r>
              <a:rPr lang="en-US" dirty="0" smtClean="0"/>
              <a:t>*  Farm inventory module</a:t>
            </a:r>
          </a:p>
          <a:p>
            <a:r>
              <a:rPr lang="en-US" dirty="0" smtClean="0"/>
              <a:t>*  Product marketing module</a:t>
            </a:r>
          </a:p>
          <a:p>
            <a:r>
              <a:rPr lang="en-US" dirty="0" smtClean="0"/>
              <a:t>*  Sales tracking module</a:t>
            </a:r>
          </a:p>
          <a:p>
            <a:r>
              <a:rPr lang="en-US" dirty="0" smtClean="0"/>
              <a:t>*  Reporting dashboard</a:t>
            </a:r>
          </a:p>
          <a:p>
            <a:r>
              <a:rPr lang="en-US" dirty="0" smtClean="0"/>
              <a:t>*  User manual</a:t>
            </a:r>
          </a:p>
          <a:p>
            <a:r>
              <a:rPr lang="en-US" dirty="0" smtClean="0"/>
              <a:t>*  Testing report </a:t>
            </a:r>
          </a:p>
          <a:p>
            <a:pPr marL="285750" indent="-285750">
              <a:buFont typeface="Arial" panose="020B0604020202020204" pitchFamily="34" charset="0"/>
              <a:buChar char="•"/>
            </a:pPr>
            <a:r>
              <a:rPr lang="en-US" dirty="0" smtClean="0"/>
              <a:t>Deployment report </a:t>
            </a:r>
          </a:p>
          <a:p>
            <a:endParaRPr lang="en-US" dirty="0" smtClean="0"/>
          </a:p>
          <a:p>
            <a:endParaRPr lang="en-US" dirty="0" smtClean="0"/>
          </a:p>
          <a:p>
            <a:r>
              <a:rPr lang="en-US" sz="2400" dirty="0" smtClean="0">
                <a:solidFill>
                  <a:srgbClr val="336699"/>
                </a:solidFill>
              </a:rPr>
              <a:t>3.3 Out-of- Scope Items</a:t>
            </a:r>
          </a:p>
          <a:p>
            <a:r>
              <a:rPr lang="en-US" sz="2000" dirty="0" smtClean="0"/>
              <a:t>This are excluded  from the project: </a:t>
            </a:r>
          </a:p>
          <a:p>
            <a:pPr marL="342900" indent="-342900">
              <a:buFont typeface="Arial" panose="020B0604020202020204" pitchFamily="34" charset="0"/>
              <a:buChar char="•"/>
            </a:pPr>
            <a:r>
              <a:rPr lang="en-US" sz="2000" dirty="0" smtClean="0"/>
              <a:t>Mobile banking integration </a:t>
            </a:r>
          </a:p>
          <a:p>
            <a:pPr marL="342900" indent="-342900">
              <a:buFont typeface="Arial" panose="020B0604020202020204" pitchFamily="34" charset="0"/>
              <a:buChar char="•"/>
            </a:pPr>
            <a:r>
              <a:rPr lang="en-US" sz="2000" dirty="0" smtClean="0"/>
              <a:t>AI prediction systems</a:t>
            </a:r>
          </a:p>
          <a:p>
            <a:pPr marL="342900" indent="-342900">
              <a:buFont typeface="Arial" panose="020B0604020202020204" pitchFamily="34" charset="0"/>
              <a:buChar char="•"/>
            </a:pPr>
            <a:r>
              <a:rPr lang="en-US" sz="2000" dirty="0" smtClean="0"/>
              <a:t>International product shipping</a:t>
            </a:r>
          </a:p>
          <a:p>
            <a:pPr marL="342900" indent="-342900">
              <a:buFont typeface="Arial" panose="020B0604020202020204" pitchFamily="34" charset="0"/>
              <a:buChar char="•"/>
            </a:pPr>
            <a:r>
              <a:rPr lang="en-US" sz="2000" dirty="0" smtClean="0"/>
              <a:t>Cryptocurrency payment systems</a:t>
            </a:r>
          </a:p>
          <a:p>
            <a:pPr marL="342900" indent="-342900">
              <a:buFont typeface="Arial" panose="020B0604020202020204" pitchFamily="34" charset="0"/>
              <a:buChar char="•"/>
            </a:pPr>
            <a:r>
              <a:rPr lang="en-US" sz="2000" dirty="0" smtClean="0"/>
              <a:t>Drone-based farm monitoring </a:t>
            </a:r>
          </a:p>
          <a:p>
            <a:endParaRPr lang="en-US" sz="2000" dirty="0" smtClean="0"/>
          </a:p>
        </p:txBody>
      </p:sp>
    </p:spTree>
    <p:extLst>
      <p:ext uri="{BB962C8B-B14F-4D97-AF65-F5344CB8AC3E}">
        <p14:creationId xmlns:p14="http://schemas.microsoft.com/office/powerpoint/2010/main" val="1890562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8618" y="46182"/>
            <a:ext cx="11868727" cy="1077218"/>
          </a:xfrm>
          <a:prstGeom prst="rect">
            <a:avLst/>
          </a:prstGeom>
          <a:noFill/>
        </p:spPr>
        <p:txBody>
          <a:bodyPr wrap="square" rtlCol="0">
            <a:spAutoFit/>
          </a:bodyPr>
          <a:lstStyle/>
          <a:p>
            <a:r>
              <a:rPr lang="en-US" sz="2400" dirty="0" smtClean="0">
                <a:solidFill>
                  <a:srgbClr val="336699"/>
                </a:solidFill>
              </a:rPr>
              <a:t>3.4 Work Breakdown Structure (WBS)</a:t>
            </a:r>
          </a:p>
          <a:p>
            <a:endParaRPr lang="en-US" sz="2000" b="1" dirty="0" smtClean="0">
              <a:solidFill>
                <a:srgbClr val="336699"/>
              </a:solidFill>
            </a:endParaRPr>
          </a:p>
          <a:p>
            <a:endParaRPr lang="en-US" sz="2000" dirty="0" smtClean="0">
              <a:solidFill>
                <a:srgbClr val="336699"/>
              </a:solidFill>
            </a:endParaRPr>
          </a:p>
        </p:txBody>
      </p:sp>
      <p:sp>
        <p:nvSpPr>
          <p:cNvPr id="8" name="Rectangle 7"/>
          <p:cNvSpPr/>
          <p:nvPr/>
        </p:nvSpPr>
        <p:spPr>
          <a:xfrm>
            <a:off x="397164" y="665018"/>
            <a:ext cx="11563927" cy="461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WBS ID                                                         Work  Package                                                                                 Sub-Tasks/ Description            </a:t>
            </a:r>
            <a:endParaRPr lang="en-US" dirty="0"/>
          </a:p>
        </p:txBody>
      </p:sp>
      <p:cxnSp>
        <p:nvCxnSpPr>
          <p:cNvPr id="10" name="Straight Connector 9"/>
          <p:cNvCxnSpPr/>
          <p:nvPr/>
        </p:nvCxnSpPr>
        <p:spPr>
          <a:xfrm>
            <a:off x="1366982" y="766618"/>
            <a:ext cx="0" cy="60913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809673" y="665018"/>
            <a:ext cx="18472" cy="6192982"/>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97164" y="1228436"/>
            <a:ext cx="11794836" cy="3970318"/>
          </a:xfrm>
          <a:prstGeom prst="rect">
            <a:avLst/>
          </a:prstGeom>
          <a:noFill/>
        </p:spPr>
        <p:txBody>
          <a:bodyPr wrap="square" rtlCol="0">
            <a:spAutoFit/>
          </a:bodyPr>
          <a:lstStyle/>
          <a:p>
            <a:r>
              <a:rPr lang="en-US" dirty="0" smtClean="0"/>
              <a:t>1.0              Project Initiation                                                        Proposal development, Project approval</a:t>
            </a:r>
          </a:p>
          <a:p>
            <a:endParaRPr lang="en-US" dirty="0"/>
          </a:p>
          <a:p>
            <a:r>
              <a:rPr lang="en-US" dirty="0" smtClean="0"/>
              <a:t>2.0              Requirement Gathering                                            Stakeholder interviews, Requirement documentation</a:t>
            </a:r>
          </a:p>
          <a:p>
            <a:endParaRPr lang="en-US" dirty="0"/>
          </a:p>
          <a:p>
            <a:r>
              <a:rPr lang="en-US" dirty="0" smtClean="0"/>
              <a:t>3.0              System Design                                                            Database design, User interface,  Architecture planning</a:t>
            </a:r>
          </a:p>
          <a:p>
            <a:endParaRPr lang="en-US" dirty="0"/>
          </a:p>
          <a:p>
            <a:r>
              <a:rPr lang="en-US" dirty="0" smtClean="0"/>
              <a:t>4.0              System Development                                                Frontend development, Backend development, Data implement</a:t>
            </a:r>
          </a:p>
          <a:p>
            <a:r>
              <a:rPr lang="en-US" dirty="0" smtClean="0"/>
              <a:t>                                                                                                         </a:t>
            </a:r>
            <a:r>
              <a:rPr lang="en-US" dirty="0" err="1" smtClean="0"/>
              <a:t>ation</a:t>
            </a:r>
            <a:endParaRPr lang="en-US" dirty="0" smtClean="0"/>
          </a:p>
          <a:p>
            <a:endParaRPr lang="en-US" dirty="0"/>
          </a:p>
          <a:p>
            <a:r>
              <a:rPr lang="en-US" dirty="0" smtClean="0"/>
              <a:t>5.0              Testing                                                                          Unit testing, integration testing, User acceptance testing</a:t>
            </a:r>
          </a:p>
          <a:p>
            <a:endParaRPr lang="en-US" dirty="0"/>
          </a:p>
          <a:p>
            <a:r>
              <a:rPr lang="en-US" dirty="0" smtClean="0"/>
              <a:t>6.0              Deployment                                                                 System installation, User Training</a:t>
            </a:r>
          </a:p>
          <a:p>
            <a:endParaRPr lang="en-US" dirty="0"/>
          </a:p>
          <a:p>
            <a:r>
              <a:rPr lang="en-US" dirty="0" smtClean="0"/>
              <a:t>7.0              Project Closure                                                            Documentation, Final review, Project handover </a:t>
            </a:r>
            <a:endParaRPr lang="en-US" dirty="0"/>
          </a:p>
        </p:txBody>
      </p:sp>
    </p:spTree>
    <p:extLst>
      <p:ext uri="{BB962C8B-B14F-4D97-AF65-F5344CB8AC3E}">
        <p14:creationId xmlns:p14="http://schemas.microsoft.com/office/powerpoint/2010/main" val="1721259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2581" y="129309"/>
            <a:ext cx="11979564" cy="3785652"/>
          </a:xfrm>
          <a:prstGeom prst="rect">
            <a:avLst/>
          </a:prstGeom>
          <a:noFill/>
        </p:spPr>
        <p:txBody>
          <a:bodyPr wrap="square" rtlCol="0">
            <a:spAutoFit/>
          </a:bodyPr>
          <a:lstStyle/>
          <a:p>
            <a:r>
              <a:rPr lang="en-US" sz="3200" dirty="0" smtClean="0">
                <a:solidFill>
                  <a:srgbClr val="336699"/>
                </a:solidFill>
              </a:rPr>
              <a:t>SECTION 4: Schedule Plan</a:t>
            </a:r>
          </a:p>
          <a:p>
            <a:endParaRPr lang="en-US" sz="3200" dirty="0" smtClean="0">
              <a:solidFill>
                <a:srgbClr val="336699"/>
              </a:solidFill>
            </a:endParaRPr>
          </a:p>
          <a:p>
            <a:endParaRPr lang="en-US" sz="3200" dirty="0" smtClean="0">
              <a:solidFill>
                <a:srgbClr val="336699"/>
              </a:solidFill>
            </a:endParaRPr>
          </a:p>
          <a:p>
            <a:r>
              <a:rPr lang="en-US" sz="2400" dirty="0" smtClean="0">
                <a:solidFill>
                  <a:srgbClr val="336699"/>
                </a:solidFill>
              </a:rPr>
              <a:t>PM Analysis- How to Approach Scheduling</a:t>
            </a:r>
          </a:p>
          <a:p>
            <a:r>
              <a:rPr lang="en-US" sz="2000" dirty="0" smtClean="0"/>
              <a:t>Scheduling an agricultural farm and marketing plan is fundamentally different from scheduling any project many</a:t>
            </a:r>
          </a:p>
          <a:p>
            <a:r>
              <a:rPr lang="en-US" sz="2000" dirty="0" smtClean="0"/>
              <a:t>Work streams run in parallel. The PM must work backwards, mapping every dependency to ensure nothing </a:t>
            </a:r>
          </a:p>
          <a:p>
            <a:r>
              <a:rPr lang="en-US" sz="2000" dirty="0" smtClean="0"/>
              <a:t>Collapses the critical path.</a:t>
            </a:r>
          </a:p>
          <a:p>
            <a:endParaRPr lang="en-US" sz="2000" dirty="0"/>
          </a:p>
          <a:p>
            <a:endParaRPr lang="en-US" sz="2000" dirty="0" smtClean="0"/>
          </a:p>
          <a:p>
            <a:endParaRPr lang="en-US" sz="2000" dirty="0" smtClean="0"/>
          </a:p>
        </p:txBody>
      </p:sp>
      <p:cxnSp>
        <p:nvCxnSpPr>
          <p:cNvPr id="7" name="Straight Connector 6"/>
          <p:cNvCxnSpPr/>
          <p:nvPr/>
        </p:nvCxnSpPr>
        <p:spPr>
          <a:xfrm flipV="1">
            <a:off x="535709" y="1108364"/>
            <a:ext cx="10889673" cy="27709"/>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35709" y="3519055"/>
            <a:ext cx="11240655" cy="471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Task                                Start Date              End Date         Duration         Dependencies           Milestone                   Date  </a:t>
            </a:r>
            <a:endParaRPr lang="en-US" dirty="0"/>
          </a:p>
        </p:txBody>
      </p:sp>
      <p:cxnSp>
        <p:nvCxnSpPr>
          <p:cNvPr id="4" name="Straight Connector 3"/>
          <p:cNvCxnSpPr/>
          <p:nvPr/>
        </p:nvCxnSpPr>
        <p:spPr>
          <a:xfrm>
            <a:off x="2780145" y="3980873"/>
            <a:ext cx="18473" cy="28771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156364" y="3980873"/>
            <a:ext cx="9236" cy="28771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5615709" y="3990109"/>
            <a:ext cx="9236" cy="2867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964218" y="3990109"/>
            <a:ext cx="18473" cy="2867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8608292" y="3990109"/>
            <a:ext cx="18472" cy="28678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0594109" y="3990109"/>
            <a:ext cx="9236" cy="2867891"/>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52581" y="3990110"/>
            <a:ext cx="11739419" cy="2862322"/>
          </a:xfrm>
          <a:prstGeom prst="rect">
            <a:avLst/>
          </a:prstGeom>
          <a:noFill/>
        </p:spPr>
        <p:txBody>
          <a:bodyPr wrap="square" rtlCol="0">
            <a:spAutoFit/>
          </a:bodyPr>
          <a:lstStyle/>
          <a:p>
            <a:r>
              <a:rPr lang="en-US" dirty="0" smtClean="0"/>
              <a:t>Project Proposal                  July 1                 July 5                  5 Days               None                   Project Approval           July 5</a:t>
            </a:r>
          </a:p>
          <a:p>
            <a:endParaRPr lang="en-US" dirty="0"/>
          </a:p>
          <a:p>
            <a:r>
              <a:rPr lang="en-US" dirty="0" smtClean="0"/>
              <a:t>Requirement Gathering     July 6                 July 12                7 Days             Proposal               </a:t>
            </a:r>
          </a:p>
          <a:p>
            <a:endParaRPr lang="en-US" dirty="0"/>
          </a:p>
          <a:p>
            <a:r>
              <a:rPr lang="en-US" dirty="0" smtClean="0"/>
              <a:t>System Design                     July 13               July 20                8 Days            Requirements       Design Completion     July 20</a:t>
            </a:r>
          </a:p>
          <a:p>
            <a:endParaRPr lang="en-US" dirty="0"/>
          </a:p>
          <a:p>
            <a:r>
              <a:rPr lang="en-US" dirty="0" smtClean="0"/>
              <a:t>Database Design                 July 15               July 22                8 Days            System Design </a:t>
            </a:r>
          </a:p>
          <a:p>
            <a:endParaRPr lang="en-US" dirty="0" smtClean="0"/>
          </a:p>
          <a:p>
            <a:r>
              <a:rPr lang="en-US" dirty="0" smtClean="0"/>
              <a:t>System Development          July 21            August 20            30 Days           Design                  Development Comp   August 20</a:t>
            </a:r>
          </a:p>
          <a:p>
            <a:r>
              <a:rPr lang="en-US" dirty="0"/>
              <a:t> </a:t>
            </a:r>
            <a:r>
              <a:rPr lang="en-US" dirty="0" smtClean="0"/>
              <a:t>                                                                                                                                                           </a:t>
            </a:r>
            <a:r>
              <a:rPr lang="en-US" dirty="0" err="1" smtClean="0"/>
              <a:t>letion</a:t>
            </a:r>
            <a:r>
              <a:rPr lang="en-US" dirty="0" smtClean="0"/>
              <a:t>                            </a:t>
            </a:r>
            <a:endParaRPr lang="en-US" dirty="0"/>
          </a:p>
        </p:txBody>
      </p:sp>
    </p:spTree>
    <p:extLst>
      <p:ext uri="{BB962C8B-B14F-4D97-AF65-F5344CB8AC3E}">
        <p14:creationId xmlns:p14="http://schemas.microsoft.com/office/powerpoint/2010/main" val="2143707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flipH="1">
            <a:off x="2604655" y="0"/>
            <a:ext cx="9236" cy="3429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110182" y="0"/>
            <a:ext cx="0" cy="3362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5477164" y="0"/>
            <a:ext cx="18472" cy="32881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6964218" y="0"/>
            <a:ext cx="18473" cy="32881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977745" y="0"/>
            <a:ext cx="9237" cy="320501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1092873" y="0"/>
            <a:ext cx="0" cy="3205018"/>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36945"/>
            <a:ext cx="12192000" cy="2308324"/>
          </a:xfrm>
          <a:prstGeom prst="rect">
            <a:avLst/>
          </a:prstGeom>
          <a:noFill/>
        </p:spPr>
        <p:txBody>
          <a:bodyPr wrap="square" rtlCol="0">
            <a:spAutoFit/>
          </a:bodyPr>
          <a:lstStyle/>
          <a:p>
            <a:r>
              <a:rPr lang="en-US" dirty="0" smtClean="0"/>
              <a:t>Testing                                      August 21           August 28         8 Days                 Development              Test Completion          August 28</a:t>
            </a:r>
          </a:p>
          <a:p>
            <a:endParaRPr lang="en-US" dirty="0"/>
          </a:p>
          <a:p>
            <a:r>
              <a:rPr lang="en-US" dirty="0" smtClean="0"/>
              <a:t>User Training                           August 29           August 30         2 Days                   Testing</a:t>
            </a:r>
          </a:p>
          <a:p>
            <a:endParaRPr lang="en-US" dirty="0"/>
          </a:p>
          <a:p>
            <a:r>
              <a:rPr lang="en-US" dirty="0" smtClean="0"/>
              <a:t>Deployment                            August  31            Sept 2               3 Days                   Training                        Deployment                Sept 2</a:t>
            </a:r>
          </a:p>
          <a:p>
            <a:r>
              <a:rPr lang="en-US" dirty="0" smtClean="0"/>
              <a:t>                                                                                                                                                                               Completion                </a:t>
            </a:r>
          </a:p>
          <a:p>
            <a:endParaRPr lang="en-US" dirty="0"/>
          </a:p>
          <a:p>
            <a:r>
              <a:rPr lang="en-US" dirty="0" smtClean="0"/>
              <a:t>Project  Closure                        Sept 3                   Sept 5              3 Days                 Deployment </a:t>
            </a:r>
          </a:p>
        </p:txBody>
      </p:sp>
    </p:spTree>
    <p:extLst>
      <p:ext uri="{BB962C8B-B14F-4D97-AF65-F5344CB8AC3E}">
        <p14:creationId xmlns:p14="http://schemas.microsoft.com/office/powerpoint/2010/main" val="1719478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3200" y="0"/>
            <a:ext cx="12118109" cy="2985433"/>
          </a:xfrm>
          <a:prstGeom prst="rect">
            <a:avLst/>
          </a:prstGeom>
          <a:noFill/>
        </p:spPr>
        <p:txBody>
          <a:bodyPr wrap="square" rtlCol="0">
            <a:spAutoFit/>
          </a:bodyPr>
          <a:lstStyle/>
          <a:p>
            <a:r>
              <a:rPr lang="en-US" sz="3200" dirty="0" smtClean="0">
                <a:solidFill>
                  <a:srgbClr val="336699"/>
                </a:solidFill>
              </a:rPr>
              <a:t>SECTION 5: Cost Baseline</a:t>
            </a:r>
          </a:p>
          <a:p>
            <a:endParaRPr lang="en-US" sz="3200" dirty="0">
              <a:solidFill>
                <a:srgbClr val="336699"/>
              </a:solidFill>
            </a:endParaRPr>
          </a:p>
          <a:p>
            <a:r>
              <a:rPr lang="en-US" sz="2400" dirty="0" smtClean="0">
                <a:solidFill>
                  <a:srgbClr val="336699"/>
                </a:solidFill>
              </a:rPr>
              <a:t>PM Analysis- How to Approach Cost Management</a:t>
            </a:r>
          </a:p>
          <a:p>
            <a:r>
              <a:rPr lang="en-US" sz="2000" dirty="0" smtClean="0"/>
              <a:t>For an agricultural farm and marketing plan, cost management is uniquely challenging because revenue (sponsor</a:t>
            </a:r>
          </a:p>
          <a:p>
            <a:r>
              <a:rPr lang="en-US" sz="2000" dirty="0"/>
              <a:t>s</a:t>
            </a:r>
            <a:r>
              <a:rPr lang="en-US" sz="2000" dirty="0" smtClean="0"/>
              <a:t>hip and sales) and expenditure happen simultaneously and influence each other. The PM must maintain a live cost</a:t>
            </a:r>
          </a:p>
          <a:p>
            <a:r>
              <a:rPr lang="en-US" sz="2000" dirty="0"/>
              <a:t>m</a:t>
            </a:r>
            <a:r>
              <a:rPr lang="en-US" sz="2000" dirty="0" smtClean="0"/>
              <a:t>odel that tracks both inflows and outflows, not just expenditure alone.  </a:t>
            </a:r>
          </a:p>
          <a:p>
            <a:endParaRPr lang="en-US" sz="2000" dirty="0"/>
          </a:p>
          <a:p>
            <a:endParaRPr lang="en-US" sz="2000" dirty="0" smtClean="0"/>
          </a:p>
        </p:txBody>
      </p:sp>
      <p:cxnSp>
        <p:nvCxnSpPr>
          <p:cNvPr id="5" name="Straight Connector 4"/>
          <p:cNvCxnSpPr/>
          <p:nvPr/>
        </p:nvCxnSpPr>
        <p:spPr>
          <a:xfrm>
            <a:off x="258618" y="877455"/>
            <a:ext cx="10982037" cy="18472"/>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387927" y="2789382"/>
            <a:ext cx="11443855"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Task                                                                                         Estimated Cost (NGN)</a:t>
            </a:r>
          </a:p>
        </p:txBody>
      </p:sp>
      <p:sp>
        <p:nvSpPr>
          <p:cNvPr id="4" name="TextBox 3"/>
          <p:cNvSpPr txBox="1"/>
          <p:nvPr/>
        </p:nvSpPr>
        <p:spPr>
          <a:xfrm>
            <a:off x="471055" y="3288145"/>
            <a:ext cx="11637818" cy="3693319"/>
          </a:xfrm>
          <a:prstGeom prst="rect">
            <a:avLst/>
          </a:prstGeom>
          <a:noFill/>
        </p:spPr>
        <p:txBody>
          <a:bodyPr wrap="square" rtlCol="0">
            <a:spAutoFit/>
          </a:bodyPr>
          <a:lstStyle/>
          <a:p>
            <a:r>
              <a:rPr lang="en-US" dirty="0" smtClean="0"/>
              <a:t>                   Requirement Analysis                                                                                  50,000</a:t>
            </a:r>
          </a:p>
          <a:p>
            <a:endParaRPr lang="en-US" dirty="0"/>
          </a:p>
          <a:p>
            <a:r>
              <a:rPr lang="en-US" dirty="0" smtClean="0"/>
              <a:t>                     System  Design                                                                                            80,000</a:t>
            </a:r>
          </a:p>
          <a:p>
            <a:r>
              <a:rPr lang="en-US" dirty="0" smtClean="0"/>
              <a:t>          </a:t>
            </a:r>
          </a:p>
          <a:p>
            <a:r>
              <a:rPr lang="en-US" dirty="0"/>
              <a:t> </a:t>
            </a:r>
            <a:r>
              <a:rPr lang="en-US" dirty="0" smtClean="0"/>
              <a:t>                 Database Development                                                                                70,000</a:t>
            </a:r>
          </a:p>
          <a:p>
            <a:endParaRPr lang="en-US" dirty="0"/>
          </a:p>
          <a:p>
            <a:r>
              <a:rPr lang="en-US" dirty="0"/>
              <a:t> </a:t>
            </a:r>
            <a:r>
              <a:rPr lang="en-US" dirty="0" smtClean="0"/>
              <a:t>                 Software Development                                                                                 250,000</a:t>
            </a:r>
          </a:p>
          <a:p>
            <a:endParaRPr lang="en-US" dirty="0" smtClean="0"/>
          </a:p>
          <a:p>
            <a:r>
              <a:rPr lang="en-US" dirty="0" smtClean="0"/>
              <a:t>                       Testing                                                                                                          70,000</a:t>
            </a:r>
          </a:p>
          <a:p>
            <a:endParaRPr lang="en-US" dirty="0"/>
          </a:p>
          <a:p>
            <a:r>
              <a:rPr lang="en-US" dirty="0" smtClean="0"/>
              <a:t>                     Deployment                                                                                                  50,000</a:t>
            </a:r>
          </a:p>
          <a:p>
            <a:endParaRPr lang="en-US" dirty="0"/>
          </a:p>
          <a:p>
            <a:r>
              <a:rPr lang="en-US" dirty="0" smtClean="0"/>
              <a:t>                      </a:t>
            </a:r>
            <a:endParaRPr lang="en-US" dirty="0"/>
          </a:p>
        </p:txBody>
      </p:sp>
    </p:spTree>
    <p:extLst>
      <p:ext uri="{BB962C8B-B14F-4D97-AF65-F5344CB8AC3E}">
        <p14:creationId xmlns:p14="http://schemas.microsoft.com/office/powerpoint/2010/main" val="2257220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2509" y="0"/>
            <a:ext cx="11794836" cy="2585323"/>
          </a:xfrm>
          <a:prstGeom prst="rect">
            <a:avLst/>
          </a:prstGeom>
          <a:noFill/>
        </p:spPr>
        <p:txBody>
          <a:bodyPr wrap="square" rtlCol="0">
            <a:spAutoFit/>
          </a:bodyPr>
          <a:lstStyle/>
          <a:p>
            <a:r>
              <a:rPr lang="en-US" dirty="0" smtClean="0"/>
              <a:t>                            Training                                                                                            40,000</a:t>
            </a:r>
          </a:p>
          <a:p>
            <a:endParaRPr lang="en-US" dirty="0"/>
          </a:p>
          <a:p>
            <a:r>
              <a:rPr lang="en-US" dirty="0" smtClean="0"/>
              <a:t>                       Documentation                                                                                   30,000</a:t>
            </a:r>
          </a:p>
          <a:p>
            <a:endParaRPr lang="en-US" dirty="0"/>
          </a:p>
          <a:p>
            <a:r>
              <a:rPr lang="en-US" dirty="0"/>
              <a:t> </a:t>
            </a:r>
            <a:r>
              <a:rPr lang="en-US" dirty="0" smtClean="0"/>
              <a:t>                 Contingency Reserve                                                                               40,000</a:t>
            </a:r>
          </a:p>
          <a:p>
            <a:endParaRPr lang="en-US" dirty="0"/>
          </a:p>
          <a:p>
            <a:r>
              <a:rPr lang="en-US" dirty="0" smtClean="0"/>
              <a:t>                 Management Reserve                                                                              50,000</a:t>
            </a:r>
          </a:p>
          <a:p>
            <a:endParaRPr lang="en-US" dirty="0"/>
          </a:p>
          <a:p>
            <a:r>
              <a:rPr lang="en-US" dirty="0" smtClean="0"/>
              <a:t>                       Total Budget                                                                                        730,000 </a:t>
            </a:r>
            <a:endParaRPr lang="en-US" dirty="0"/>
          </a:p>
        </p:txBody>
      </p:sp>
    </p:spTree>
    <p:extLst>
      <p:ext uri="{BB962C8B-B14F-4D97-AF65-F5344CB8AC3E}">
        <p14:creationId xmlns:p14="http://schemas.microsoft.com/office/powerpoint/2010/main" val="1938193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9382" y="0"/>
            <a:ext cx="11859491" cy="3477875"/>
          </a:xfrm>
          <a:prstGeom prst="rect">
            <a:avLst/>
          </a:prstGeom>
          <a:noFill/>
        </p:spPr>
        <p:txBody>
          <a:bodyPr wrap="square" rtlCol="0">
            <a:spAutoFit/>
          </a:bodyPr>
          <a:lstStyle/>
          <a:p>
            <a:r>
              <a:rPr lang="en-US" dirty="0" smtClean="0"/>
              <a:t> </a:t>
            </a:r>
            <a:r>
              <a:rPr lang="en-US" sz="3200" dirty="0" smtClean="0">
                <a:solidFill>
                  <a:srgbClr val="336699"/>
                </a:solidFill>
              </a:rPr>
              <a:t>SECTION  6: Stakeholder Engagement &amp; Communication Plan</a:t>
            </a:r>
          </a:p>
          <a:p>
            <a:endParaRPr lang="en-US" sz="3200" dirty="0">
              <a:solidFill>
                <a:srgbClr val="336699"/>
              </a:solidFill>
            </a:endParaRPr>
          </a:p>
          <a:p>
            <a:endParaRPr lang="en-US" sz="3200" dirty="0">
              <a:solidFill>
                <a:srgbClr val="336699"/>
              </a:solidFill>
            </a:endParaRPr>
          </a:p>
          <a:p>
            <a:r>
              <a:rPr lang="en-US" sz="2400" dirty="0" smtClean="0">
                <a:solidFill>
                  <a:srgbClr val="336699"/>
                </a:solidFill>
              </a:rPr>
              <a:t>PM Analysis- How to Approach Stakeholder Management</a:t>
            </a:r>
          </a:p>
          <a:p>
            <a:r>
              <a:rPr lang="en-US" sz="2000" dirty="0" smtClean="0"/>
              <a:t>The PM is simultaneously managing paying sponsors, high-profile speakers, a government partner and vendors. </a:t>
            </a:r>
          </a:p>
          <a:p>
            <a:r>
              <a:rPr lang="en-US" sz="2000" dirty="0" smtClean="0"/>
              <a:t>Stakeholder management in project management involves identifying, analyzing, engaging, and monitoring </a:t>
            </a:r>
            <a:r>
              <a:rPr lang="en-US" sz="2000" dirty="0" err="1" smtClean="0"/>
              <a:t>indivi</a:t>
            </a:r>
            <a:endParaRPr lang="en-US" sz="2000" dirty="0" smtClean="0"/>
          </a:p>
          <a:p>
            <a:r>
              <a:rPr lang="en-US" sz="2000" dirty="0" smtClean="0"/>
              <a:t>duals or group who can affect or be affected by a project.</a:t>
            </a:r>
          </a:p>
          <a:p>
            <a:endParaRPr lang="en-US" sz="2000" dirty="0"/>
          </a:p>
          <a:p>
            <a:endParaRPr lang="en-US" sz="2000" dirty="0"/>
          </a:p>
        </p:txBody>
      </p:sp>
      <p:cxnSp>
        <p:nvCxnSpPr>
          <p:cNvPr id="4" name="Straight Connector 3"/>
          <p:cNvCxnSpPr/>
          <p:nvPr/>
        </p:nvCxnSpPr>
        <p:spPr>
          <a:xfrm flipV="1">
            <a:off x="415636" y="1108364"/>
            <a:ext cx="10575637" cy="27709"/>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15636" y="3168072"/>
            <a:ext cx="8728364" cy="677108"/>
          </a:xfrm>
          <a:prstGeom prst="rect">
            <a:avLst/>
          </a:prstGeom>
        </p:spPr>
        <p:txBody>
          <a:bodyPr wrap="square">
            <a:spAutoFit/>
          </a:bodyPr>
          <a:lstStyle/>
          <a:p>
            <a:r>
              <a:rPr lang="en-US" sz="2000" dirty="0">
                <a:solidFill>
                  <a:srgbClr val="336699"/>
                </a:solidFill>
              </a:rPr>
              <a:t>RACI Matrix</a:t>
            </a:r>
          </a:p>
          <a:p>
            <a:r>
              <a:rPr lang="en-US" i="1" dirty="0"/>
              <a:t>R= Responsible    A= Accountable    C= Consulted      I= Informed </a:t>
            </a:r>
          </a:p>
        </p:txBody>
      </p:sp>
      <p:sp>
        <p:nvSpPr>
          <p:cNvPr id="5" name="Rectangle 4"/>
          <p:cNvSpPr/>
          <p:nvPr/>
        </p:nvSpPr>
        <p:spPr>
          <a:xfrm>
            <a:off x="166255" y="3934691"/>
            <a:ext cx="1139767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Activity                                  PM (Daniel)                 Developers                  Farmers                         Sponsor</a:t>
            </a:r>
          </a:p>
        </p:txBody>
      </p:sp>
      <p:sp>
        <p:nvSpPr>
          <p:cNvPr id="6" name="TextBox 5"/>
          <p:cNvSpPr txBox="1"/>
          <p:nvPr/>
        </p:nvSpPr>
        <p:spPr>
          <a:xfrm>
            <a:off x="175491" y="4350327"/>
            <a:ext cx="12016509" cy="2622269"/>
          </a:xfrm>
          <a:prstGeom prst="rect">
            <a:avLst/>
          </a:prstGeom>
          <a:noFill/>
        </p:spPr>
        <p:txBody>
          <a:bodyPr wrap="square" rtlCol="0">
            <a:spAutoFit/>
          </a:bodyPr>
          <a:lstStyle/>
          <a:p>
            <a:r>
              <a:rPr lang="en-US" dirty="0" smtClean="0"/>
              <a:t>Requirement  Gathering                              A                                     R                                 C                                      I</a:t>
            </a:r>
          </a:p>
          <a:p>
            <a:endParaRPr lang="en-US" dirty="0"/>
          </a:p>
          <a:p>
            <a:r>
              <a:rPr lang="en-US" dirty="0" smtClean="0"/>
              <a:t>System Design                                               A                                     R                                  I                                       </a:t>
            </a:r>
            <a:r>
              <a:rPr lang="en-US" dirty="0" err="1" smtClean="0"/>
              <a:t>I</a:t>
            </a:r>
            <a:endParaRPr lang="en-US" dirty="0" smtClean="0"/>
          </a:p>
          <a:p>
            <a:endParaRPr lang="en-US" dirty="0"/>
          </a:p>
          <a:p>
            <a:r>
              <a:rPr lang="en-US" dirty="0" smtClean="0"/>
              <a:t>Development                                                 C                                     R                                  I                                       </a:t>
            </a:r>
            <a:r>
              <a:rPr lang="en-US" dirty="0" err="1" smtClean="0"/>
              <a:t>I</a:t>
            </a:r>
            <a:r>
              <a:rPr lang="en-US" dirty="0" smtClean="0"/>
              <a:t> </a:t>
            </a:r>
          </a:p>
          <a:p>
            <a:endParaRPr lang="en-US" dirty="0"/>
          </a:p>
          <a:p>
            <a:r>
              <a:rPr lang="en-US" dirty="0" smtClean="0"/>
              <a:t>Testing                                                            A                                     R                                  C                                      I</a:t>
            </a:r>
          </a:p>
          <a:p>
            <a:endParaRPr lang="en-US" dirty="0"/>
          </a:p>
          <a:p>
            <a:r>
              <a:rPr lang="en-US" dirty="0" smtClean="0"/>
              <a:t>Deployment                                                  A                                     R                                   C                                      I           </a:t>
            </a:r>
          </a:p>
        </p:txBody>
      </p:sp>
    </p:spTree>
    <p:extLst>
      <p:ext uri="{BB962C8B-B14F-4D97-AF65-F5344CB8AC3E}">
        <p14:creationId xmlns:p14="http://schemas.microsoft.com/office/powerpoint/2010/main" val="3951998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2436" y="138546"/>
            <a:ext cx="11822546" cy="4618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Stakeholder                         Interest Level                 Influence Level               Communication Method                  Frequency</a:t>
            </a:r>
            <a:endParaRPr lang="en-US" dirty="0"/>
          </a:p>
        </p:txBody>
      </p:sp>
      <p:sp>
        <p:nvSpPr>
          <p:cNvPr id="5" name="TextBox 4"/>
          <p:cNvSpPr txBox="1"/>
          <p:nvPr/>
        </p:nvSpPr>
        <p:spPr>
          <a:xfrm>
            <a:off x="212436" y="600364"/>
            <a:ext cx="11979564" cy="2862322"/>
          </a:xfrm>
          <a:prstGeom prst="rect">
            <a:avLst/>
          </a:prstGeom>
          <a:noFill/>
        </p:spPr>
        <p:txBody>
          <a:bodyPr wrap="square" rtlCol="0">
            <a:spAutoFit/>
          </a:bodyPr>
          <a:lstStyle/>
          <a:p>
            <a:r>
              <a:rPr lang="en-US" dirty="0" smtClean="0"/>
              <a:t>  Project Sponsor                           High                                   </a:t>
            </a:r>
            <a:r>
              <a:rPr lang="en-US" dirty="0" err="1" smtClean="0"/>
              <a:t>High</a:t>
            </a:r>
            <a:r>
              <a:rPr lang="en-US" dirty="0" smtClean="0"/>
              <a:t>                                   Meetings                                    Weekly</a:t>
            </a:r>
          </a:p>
          <a:p>
            <a:endParaRPr lang="en-US" dirty="0"/>
          </a:p>
          <a:p>
            <a:r>
              <a:rPr lang="en-US" dirty="0"/>
              <a:t> </a:t>
            </a:r>
            <a:r>
              <a:rPr lang="en-US" dirty="0" smtClean="0"/>
              <a:t>   Farmers                                       High                                 Medium                          Training Sessions                        Bi- Weekly</a:t>
            </a:r>
          </a:p>
          <a:p>
            <a:endParaRPr lang="en-US" dirty="0"/>
          </a:p>
          <a:p>
            <a:r>
              <a:rPr lang="en-US" dirty="0" smtClean="0"/>
              <a:t>   Customers                                 Medium                              Low                                  Email/ SMS                                  Monthly</a:t>
            </a:r>
          </a:p>
          <a:p>
            <a:endParaRPr lang="en-US" dirty="0"/>
          </a:p>
          <a:p>
            <a:r>
              <a:rPr lang="en-US" dirty="0" smtClean="0"/>
              <a:t>   Developers                                 High                                    </a:t>
            </a:r>
            <a:r>
              <a:rPr lang="en-US" dirty="0" err="1" smtClean="0"/>
              <a:t>High</a:t>
            </a:r>
            <a:r>
              <a:rPr lang="en-US" dirty="0" smtClean="0"/>
              <a:t>                               Team Meetings                                Daily</a:t>
            </a:r>
          </a:p>
          <a:p>
            <a:endParaRPr lang="en-US" dirty="0"/>
          </a:p>
          <a:p>
            <a:r>
              <a:rPr lang="en-US" dirty="0"/>
              <a:t> </a:t>
            </a:r>
            <a:r>
              <a:rPr lang="en-US" dirty="0" smtClean="0"/>
              <a:t>  Marketing Team                      Medium                             </a:t>
            </a:r>
            <a:r>
              <a:rPr lang="en-US" dirty="0" err="1" smtClean="0"/>
              <a:t>Medium</a:t>
            </a:r>
            <a:endParaRPr lang="en-US" dirty="0" smtClean="0"/>
          </a:p>
          <a:p>
            <a:endParaRPr lang="en-US" dirty="0"/>
          </a:p>
        </p:txBody>
      </p:sp>
      <p:cxnSp>
        <p:nvCxnSpPr>
          <p:cNvPr id="16" name="Straight Connector 15"/>
          <p:cNvCxnSpPr/>
          <p:nvPr/>
        </p:nvCxnSpPr>
        <p:spPr>
          <a:xfrm>
            <a:off x="7007321" y="337898"/>
            <a:ext cx="0" cy="2624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429163" y="206665"/>
            <a:ext cx="0" cy="2624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862945" y="337898"/>
            <a:ext cx="0" cy="26246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414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891" y="0"/>
            <a:ext cx="11924145" cy="584775"/>
          </a:xfrm>
          <a:prstGeom prst="rect">
            <a:avLst/>
          </a:prstGeom>
          <a:noFill/>
        </p:spPr>
        <p:txBody>
          <a:bodyPr wrap="square" rtlCol="0">
            <a:spAutoFit/>
          </a:bodyPr>
          <a:lstStyle/>
          <a:p>
            <a:r>
              <a:rPr lang="en-US" sz="3200" dirty="0" smtClean="0">
                <a:solidFill>
                  <a:srgbClr val="336699"/>
                </a:solidFill>
              </a:rPr>
              <a:t>SECTION 7: Risk Management Plan</a:t>
            </a:r>
            <a:endParaRPr lang="en-US" sz="3200" dirty="0">
              <a:solidFill>
                <a:srgbClr val="336699"/>
              </a:solidFill>
            </a:endParaRPr>
          </a:p>
        </p:txBody>
      </p:sp>
      <p:cxnSp>
        <p:nvCxnSpPr>
          <p:cNvPr id="4" name="Straight Connector 3"/>
          <p:cNvCxnSpPr/>
          <p:nvPr/>
        </p:nvCxnSpPr>
        <p:spPr>
          <a:xfrm>
            <a:off x="184727" y="969818"/>
            <a:ext cx="10668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49382" y="1099127"/>
            <a:ext cx="11942618" cy="1661993"/>
          </a:xfrm>
          <a:prstGeom prst="rect">
            <a:avLst/>
          </a:prstGeom>
          <a:noFill/>
        </p:spPr>
        <p:txBody>
          <a:bodyPr wrap="square" rtlCol="0">
            <a:spAutoFit/>
          </a:bodyPr>
          <a:lstStyle/>
          <a:p>
            <a:endParaRPr lang="en-US" dirty="0" smtClean="0"/>
          </a:p>
          <a:p>
            <a:r>
              <a:rPr lang="en-US" sz="2000" dirty="0" smtClean="0">
                <a:solidFill>
                  <a:srgbClr val="336699"/>
                </a:solidFill>
              </a:rPr>
              <a:t>PM </a:t>
            </a:r>
            <a:r>
              <a:rPr lang="en-US" sz="2400" dirty="0" smtClean="0">
                <a:solidFill>
                  <a:srgbClr val="336699"/>
                </a:solidFill>
              </a:rPr>
              <a:t>Analysis-</a:t>
            </a:r>
            <a:r>
              <a:rPr lang="en-US" sz="2000" dirty="0" smtClean="0">
                <a:solidFill>
                  <a:srgbClr val="336699"/>
                </a:solidFill>
              </a:rPr>
              <a:t> </a:t>
            </a:r>
            <a:r>
              <a:rPr lang="en-US" sz="2400" dirty="0" smtClean="0">
                <a:solidFill>
                  <a:srgbClr val="336699"/>
                </a:solidFill>
              </a:rPr>
              <a:t>How</a:t>
            </a:r>
            <a:r>
              <a:rPr lang="en-US" sz="2000" dirty="0" smtClean="0">
                <a:solidFill>
                  <a:srgbClr val="336699"/>
                </a:solidFill>
              </a:rPr>
              <a:t> to Approach Risk Management </a:t>
            </a:r>
          </a:p>
          <a:p>
            <a:r>
              <a:rPr lang="en-US" sz="2000" dirty="0" smtClean="0"/>
              <a:t>Risk management for an agricultural farm and marketing plan needs the right management to put the right people in the right positions. Many farms fail because they focus only on production and ignore marketing, a PM should ensure the farm products actually reach buyers profitably.</a:t>
            </a:r>
            <a:endParaRPr lang="en-US" sz="2000" dirty="0"/>
          </a:p>
        </p:txBody>
      </p:sp>
      <p:sp>
        <p:nvSpPr>
          <p:cNvPr id="8" name="Rectangle 7"/>
          <p:cNvSpPr/>
          <p:nvPr/>
        </p:nvSpPr>
        <p:spPr>
          <a:xfrm>
            <a:off x="249382" y="2992582"/>
            <a:ext cx="11554691" cy="50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Risk                                                Probability                          Impact                                       Mitigation Strategy</a:t>
            </a:r>
            <a:endParaRPr lang="en-US" dirty="0"/>
          </a:p>
        </p:txBody>
      </p:sp>
      <p:sp>
        <p:nvSpPr>
          <p:cNvPr id="9" name="TextBox 8"/>
          <p:cNvSpPr txBox="1"/>
          <p:nvPr/>
        </p:nvSpPr>
        <p:spPr>
          <a:xfrm>
            <a:off x="249382" y="3537527"/>
            <a:ext cx="11942618" cy="3139321"/>
          </a:xfrm>
          <a:prstGeom prst="rect">
            <a:avLst/>
          </a:prstGeom>
          <a:noFill/>
        </p:spPr>
        <p:txBody>
          <a:bodyPr wrap="square" rtlCol="0">
            <a:spAutoFit/>
          </a:bodyPr>
          <a:lstStyle/>
          <a:p>
            <a:r>
              <a:rPr lang="en-US" dirty="0" smtClean="0"/>
              <a:t> Budget Overrun                                          Medium                               High                                      Strict cost monitoring</a:t>
            </a:r>
          </a:p>
          <a:p>
            <a:endParaRPr lang="en-US" dirty="0"/>
          </a:p>
          <a:p>
            <a:r>
              <a:rPr lang="en-US" dirty="0" smtClean="0"/>
              <a:t> Delayed Development                               Medium                               High                                        Proper   scheduling</a:t>
            </a:r>
          </a:p>
          <a:p>
            <a:endParaRPr lang="en-US" dirty="0"/>
          </a:p>
          <a:p>
            <a:r>
              <a:rPr lang="en-US" dirty="0" smtClean="0"/>
              <a:t> System  Failure                                              Low                                     High                                         Frequent Testing</a:t>
            </a:r>
          </a:p>
          <a:p>
            <a:endParaRPr lang="en-US" dirty="0"/>
          </a:p>
          <a:p>
            <a:r>
              <a:rPr lang="en-US" dirty="0" smtClean="0"/>
              <a:t>Poor Internet Access                                   Medium                             </a:t>
            </a:r>
            <a:r>
              <a:rPr lang="en-US" dirty="0" err="1" smtClean="0"/>
              <a:t>Medium</a:t>
            </a:r>
            <a:r>
              <a:rPr lang="en-US" dirty="0" smtClean="0"/>
              <a:t>                                   Offline support features</a:t>
            </a:r>
          </a:p>
          <a:p>
            <a:endParaRPr lang="en-US" dirty="0"/>
          </a:p>
          <a:p>
            <a:r>
              <a:rPr lang="en-US" dirty="0" smtClean="0"/>
              <a:t>User Resistance                                            Medium                             </a:t>
            </a:r>
            <a:r>
              <a:rPr lang="en-US" dirty="0" err="1" smtClean="0"/>
              <a:t>Medium</a:t>
            </a:r>
            <a:r>
              <a:rPr lang="en-US" dirty="0" smtClean="0"/>
              <a:t>                                   User training programs </a:t>
            </a:r>
          </a:p>
          <a:p>
            <a:endParaRPr lang="en-US" dirty="0"/>
          </a:p>
          <a:p>
            <a:r>
              <a:rPr lang="en-US" dirty="0" smtClean="0"/>
              <a:t>Data  Loss                                                        Low                                     High                                           Database backups</a:t>
            </a:r>
            <a:endParaRPr lang="en-US" dirty="0"/>
          </a:p>
        </p:txBody>
      </p:sp>
    </p:spTree>
    <p:extLst>
      <p:ext uri="{BB962C8B-B14F-4D97-AF65-F5344CB8AC3E}">
        <p14:creationId xmlns:p14="http://schemas.microsoft.com/office/powerpoint/2010/main" val="1964720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9309" y="83127"/>
            <a:ext cx="11961091" cy="3847207"/>
          </a:xfrm>
          <a:prstGeom prst="rect">
            <a:avLst/>
          </a:prstGeom>
          <a:noFill/>
        </p:spPr>
        <p:txBody>
          <a:bodyPr wrap="square" rtlCol="0">
            <a:spAutoFit/>
          </a:bodyPr>
          <a:lstStyle/>
          <a:p>
            <a:r>
              <a:rPr lang="en-US" sz="2400" dirty="0" smtClean="0">
                <a:solidFill>
                  <a:srgbClr val="336699"/>
                </a:solidFill>
              </a:rPr>
              <a:t>Risk Response Strategies</a:t>
            </a:r>
          </a:p>
          <a:p>
            <a:pPr marL="457200" indent="-457200">
              <a:buAutoNum type="arabicPeriod"/>
            </a:pPr>
            <a:r>
              <a:rPr lang="en-US" sz="2000" dirty="0" smtClean="0"/>
              <a:t>Risk Avoidance</a:t>
            </a:r>
          </a:p>
          <a:p>
            <a:r>
              <a:rPr lang="en-US" sz="2000" dirty="0"/>
              <a:t> </a:t>
            </a:r>
            <a:r>
              <a:rPr lang="en-US" sz="2000" dirty="0" smtClean="0"/>
              <a:t>    Proper planning will reduce avoidable risks.</a:t>
            </a:r>
          </a:p>
          <a:p>
            <a:endParaRPr lang="en-US" sz="2000" dirty="0"/>
          </a:p>
          <a:p>
            <a:pPr marL="457200" indent="-457200">
              <a:buAutoNum type="arabicPeriod" startAt="2"/>
            </a:pPr>
            <a:r>
              <a:rPr lang="en-US" sz="2000" dirty="0" smtClean="0"/>
              <a:t>Risk Mitigation</a:t>
            </a:r>
          </a:p>
          <a:p>
            <a:r>
              <a:rPr lang="en-US" sz="2000" dirty="0"/>
              <a:t> </a:t>
            </a:r>
            <a:r>
              <a:rPr lang="en-US" sz="2000" dirty="0" smtClean="0"/>
              <a:t>    Frequent testing and monitoring will reduce project issues.</a:t>
            </a:r>
          </a:p>
          <a:p>
            <a:endParaRPr lang="en-US" sz="2000" dirty="0"/>
          </a:p>
          <a:p>
            <a:pPr marL="457200" indent="-457200">
              <a:buAutoNum type="arabicPeriod" startAt="3"/>
            </a:pPr>
            <a:r>
              <a:rPr lang="en-US" sz="2000" dirty="0" smtClean="0"/>
              <a:t>Risk Transfer</a:t>
            </a:r>
          </a:p>
          <a:p>
            <a:r>
              <a:rPr lang="en-US" sz="2000" dirty="0"/>
              <a:t> </a:t>
            </a:r>
            <a:r>
              <a:rPr lang="en-US" sz="2000" dirty="0" smtClean="0"/>
              <a:t>    External technical support may be outsourced if necessary.</a:t>
            </a:r>
          </a:p>
          <a:p>
            <a:endParaRPr lang="en-US" sz="2000" dirty="0"/>
          </a:p>
          <a:p>
            <a:r>
              <a:rPr lang="en-US" sz="2000" dirty="0" smtClean="0"/>
              <a:t>4.    Risk Acceptance</a:t>
            </a:r>
          </a:p>
          <a:p>
            <a:r>
              <a:rPr lang="en-US" sz="2000" dirty="0"/>
              <a:t> </a:t>
            </a:r>
            <a:r>
              <a:rPr lang="en-US" sz="2000" dirty="0" smtClean="0"/>
              <a:t>    Minor unavoidable risks will be monitored and managed. </a:t>
            </a:r>
          </a:p>
        </p:txBody>
      </p:sp>
    </p:spTree>
    <p:extLst>
      <p:ext uri="{BB962C8B-B14F-4D97-AF65-F5344CB8AC3E}">
        <p14:creationId xmlns:p14="http://schemas.microsoft.com/office/powerpoint/2010/main" val="3623315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7782" y="64655"/>
            <a:ext cx="11979563" cy="6001643"/>
          </a:xfrm>
          <a:prstGeom prst="rect">
            <a:avLst/>
          </a:prstGeom>
          <a:noFill/>
        </p:spPr>
        <p:txBody>
          <a:bodyPr wrap="square" rtlCol="0">
            <a:spAutoFit/>
          </a:bodyPr>
          <a:lstStyle/>
          <a:p>
            <a:r>
              <a:rPr lang="en-US" sz="3200" dirty="0" smtClean="0">
                <a:solidFill>
                  <a:srgbClr val="336699"/>
                </a:solidFill>
              </a:rPr>
              <a:t>SECTION 8: Quality Management &amp; Change Control</a:t>
            </a:r>
            <a:endParaRPr lang="en-US" sz="3200" dirty="0">
              <a:solidFill>
                <a:srgbClr val="336699"/>
              </a:solidFill>
            </a:endParaRPr>
          </a:p>
          <a:p>
            <a:endParaRPr lang="en-US" sz="3200" dirty="0">
              <a:solidFill>
                <a:srgbClr val="336699"/>
              </a:solidFill>
            </a:endParaRPr>
          </a:p>
          <a:p>
            <a:endParaRPr lang="en-US" sz="3200" dirty="0">
              <a:solidFill>
                <a:srgbClr val="336699"/>
              </a:solidFill>
            </a:endParaRPr>
          </a:p>
          <a:p>
            <a:r>
              <a:rPr lang="en-US" sz="2400" dirty="0" smtClean="0">
                <a:solidFill>
                  <a:srgbClr val="336699"/>
                </a:solidFill>
              </a:rPr>
              <a:t>PM Analysis- How to Approach Quality Management </a:t>
            </a:r>
          </a:p>
          <a:p>
            <a:r>
              <a:rPr lang="en-US" sz="2000" dirty="0" smtClean="0"/>
              <a:t>Quality management in agricultural farm and marketing plan is creating a system that ensures your farm products</a:t>
            </a:r>
          </a:p>
          <a:p>
            <a:r>
              <a:rPr lang="en-US" sz="2000" dirty="0" smtClean="0"/>
              <a:t>are consistently good, safe, profitable, and trusted by customers. Good records help monitor performance and improve quality. Quality management should support marketing because customer buy trusted products.</a:t>
            </a:r>
          </a:p>
          <a:p>
            <a:endParaRPr lang="en-US" sz="2000" dirty="0"/>
          </a:p>
          <a:p>
            <a:r>
              <a:rPr lang="en-US" sz="2400" dirty="0" smtClean="0">
                <a:solidFill>
                  <a:srgbClr val="336699"/>
                </a:solidFill>
              </a:rPr>
              <a:t>Quality Management Plan</a:t>
            </a:r>
          </a:p>
          <a:p>
            <a:r>
              <a:rPr lang="en-US" sz="2000" dirty="0" smtClean="0"/>
              <a:t>To ensure project quality, the following measures will be implemented:</a:t>
            </a:r>
          </a:p>
          <a:p>
            <a:endParaRPr lang="en-US" sz="2000" dirty="0" smtClean="0"/>
          </a:p>
          <a:p>
            <a:pPr marL="342900" indent="-342900">
              <a:buFontTx/>
              <a:buChar char="-"/>
            </a:pPr>
            <a:r>
              <a:rPr lang="en-US" sz="2000" dirty="0" smtClean="0"/>
              <a:t>Regular code reviews</a:t>
            </a:r>
            <a:endParaRPr lang="en-US" sz="2000" dirty="0"/>
          </a:p>
          <a:p>
            <a:pPr marL="342900" indent="-342900">
              <a:buFontTx/>
              <a:buChar char="-"/>
            </a:pPr>
            <a:r>
              <a:rPr lang="en-US" sz="2000" dirty="0" smtClean="0"/>
              <a:t>System testing</a:t>
            </a:r>
          </a:p>
          <a:p>
            <a:r>
              <a:rPr lang="en-US" sz="2000" dirty="0" smtClean="0"/>
              <a:t>-     User acceptance testing</a:t>
            </a:r>
          </a:p>
          <a:p>
            <a:pPr marL="342900" indent="-342900">
              <a:buFontTx/>
              <a:buChar char="-"/>
            </a:pPr>
            <a:r>
              <a:rPr lang="en-US" sz="2000" dirty="0" smtClean="0"/>
              <a:t>Performance evaluation</a:t>
            </a:r>
          </a:p>
          <a:p>
            <a:pPr marL="342900" indent="-342900">
              <a:buFontTx/>
              <a:buChar char="-"/>
            </a:pPr>
            <a:r>
              <a:rPr lang="en-US" sz="2000" dirty="0" smtClean="0"/>
              <a:t>Continuous monitoring</a:t>
            </a:r>
          </a:p>
          <a:p>
            <a:pPr marL="342900" indent="-342900">
              <a:buFontTx/>
              <a:buChar char="-"/>
            </a:pPr>
            <a:r>
              <a:rPr lang="en-US" sz="2000" dirty="0" smtClean="0"/>
              <a:t>Stakeholder feedback sessions</a:t>
            </a:r>
          </a:p>
        </p:txBody>
      </p:sp>
      <p:cxnSp>
        <p:nvCxnSpPr>
          <p:cNvPr id="7" name="Straight Connector 6"/>
          <p:cNvCxnSpPr/>
          <p:nvPr/>
        </p:nvCxnSpPr>
        <p:spPr>
          <a:xfrm flipV="1">
            <a:off x="406400" y="1034473"/>
            <a:ext cx="10797309" cy="1847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3861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7782" y="0"/>
            <a:ext cx="12044218" cy="7294305"/>
          </a:xfrm>
          <a:prstGeom prst="rect">
            <a:avLst/>
          </a:prstGeom>
          <a:noFill/>
        </p:spPr>
        <p:txBody>
          <a:bodyPr wrap="square" rtlCol="0">
            <a:spAutoFit/>
          </a:bodyPr>
          <a:lstStyle/>
          <a:p>
            <a:r>
              <a:rPr lang="en-US" sz="2400" dirty="0" smtClean="0">
                <a:solidFill>
                  <a:srgbClr val="336699"/>
                </a:solidFill>
              </a:rPr>
              <a:t>Quality Standards</a:t>
            </a:r>
          </a:p>
          <a:p>
            <a:r>
              <a:rPr lang="en-US" sz="2000" dirty="0" smtClean="0"/>
              <a:t>The  systems must:</a:t>
            </a:r>
            <a:endParaRPr lang="en-US" sz="2000" dirty="0"/>
          </a:p>
          <a:p>
            <a:pPr marL="342900" indent="-342900">
              <a:buFontTx/>
              <a:buChar char="-"/>
            </a:pPr>
            <a:r>
              <a:rPr lang="en-US" sz="2000" dirty="0" smtClean="0"/>
              <a:t>Function without critical errors</a:t>
            </a:r>
          </a:p>
          <a:p>
            <a:pPr marL="342900" indent="-342900">
              <a:buFontTx/>
              <a:buChar char="-"/>
            </a:pPr>
            <a:r>
              <a:rPr lang="en-US" sz="2000" dirty="0" smtClean="0"/>
              <a:t>Provide accurate reports</a:t>
            </a:r>
          </a:p>
          <a:p>
            <a:pPr marL="342900" indent="-342900">
              <a:buFontTx/>
              <a:buChar char="-"/>
            </a:pPr>
            <a:r>
              <a:rPr lang="en-US" sz="2000" dirty="0" smtClean="0"/>
              <a:t>Maintain data security</a:t>
            </a:r>
          </a:p>
          <a:p>
            <a:pPr marL="342900" indent="-342900">
              <a:buFontTx/>
              <a:buChar char="-"/>
            </a:pPr>
            <a:r>
              <a:rPr lang="en-US" sz="2000" dirty="0" smtClean="0"/>
              <a:t>Be user-friendly</a:t>
            </a:r>
          </a:p>
          <a:p>
            <a:pPr marL="342900" indent="-342900">
              <a:buFontTx/>
              <a:buChar char="-"/>
            </a:pPr>
            <a:r>
              <a:rPr lang="en-US" sz="2000" dirty="0" smtClean="0"/>
              <a:t>Meet Stakeholder requirements</a:t>
            </a:r>
          </a:p>
          <a:p>
            <a:endParaRPr lang="en-US" sz="2000" dirty="0" smtClean="0"/>
          </a:p>
          <a:p>
            <a:r>
              <a:rPr lang="en-US" sz="2400" dirty="0" smtClean="0">
                <a:solidFill>
                  <a:srgbClr val="336699"/>
                </a:solidFill>
              </a:rPr>
              <a:t>Change Management Plan</a:t>
            </a:r>
          </a:p>
          <a:p>
            <a:r>
              <a:rPr lang="en-US" sz="2000" dirty="0"/>
              <a:t> </a:t>
            </a:r>
            <a:r>
              <a:rPr lang="en-US" sz="2000" dirty="0" smtClean="0"/>
              <a:t>All project change will follow the process below:</a:t>
            </a:r>
          </a:p>
          <a:p>
            <a:endParaRPr lang="en-US" sz="2000" dirty="0"/>
          </a:p>
          <a:p>
            <a:pPr marL="457200" indent="-457200">
              <a:buAutoNum type="arabicPeriod"/>
            </a:pPr>
            <a:r>
              <a:rPr lang="en-US" sz="2000" dirty="0" smtClean="0"/>
              <a:t>Change request submission</a:t>
            </a:r>
          </a:p>
          <a:p>
            <a:endParaRPr lang="en-US" sz="2000" dirty="0" smtClean="0"/>
          </a:p>
          <a:p>
            <a:pPr marL="457200" indent="-457200">
              <a:buAutoNum type="arabicPeriod" startAt="2"/>
            </a:pPr>
            <a:r>
              <a:rPr lang="en-US" sz="2000" dirty="0" smtClean="0"/>
              <a:t>Change impact analysis</a:t>
            </a:r>
          </a:p>
          <a:p>
            <a:pPr marL="457200" indent="-457200">
              <a:buAutoNum type="arabicPeriod" startAt="2"/>
            </a:pPr>
            <a:endParaRPr lang="en-US" sz="2000" dirty="0"/>
          </a:p>
          <a:p>
            <a:pPr marL="457200" indent="-457200">
              <a:buAutoNum type="arabicPeriod" startAt="2"/>
            </a:pPr>
            <a:r>
              <a:rPr lang="en-US" sz="2000" dirty="0" smtClean="0"/>
              <a:t>Approval by project manager</a:t>
            </a:r>
          </a:p>
          <a:p>
            <a:pPr marL="457200" indent="-457200">
              <a:buAutoNum type="arabicPeriod" startAt="2"/>
            </a:pPr>
            <a:endParaRPr lang="en-US" sz="2000" dirty="0"/>
          </a:p>
          <a:p>
            <a:pPr marL="457200" indent="-457200">
              <a:buAutoNum type="arabicPeriod" startAt="2"/>
            </a:pPr>
            <a:r>
              <a:rPr lang="en-US" sz="2000" dirty="0" smtClean="0"/>
              <a:t>Stakeholder communication</a:t>
            </a:r>
          </a:p>
          <a:p>
            <a:pPr marL="457200" indent="-457200">
              <a:buAutoNum type="arabicPeriod" startAt="2"/>
            </a:pPr>
            <a:endParaRPr lang="en-US" sz="2000" dirty="0"/>
          </a:p>
          <a:p>
            <a:pPr marL="457200" indent="-457200">
              <a:buAutoNum type="arabicPeriod" startAt="2"/>
            </a:pPr>
            <a:r>
              <a:rPr lang="en-US" sz="2000" dirty="0" smtClean="0"/>
              <a:t>Implementation of approved Changes </a:t>
            </a:r>
          </a:p>
          <a:p>
            <a:pPr marL="457200" indent="-457200">
              <a:buAutoNum type="arabicPeriod" startAt="2"/>
            </a:pPr>
            <a:endParaRPr lang="en-US" sz="2000" dirty="0" smtClean="0"/>
          </a:p>
          <a:p>
            <a:pPr marL="457200" indent="-457200">
              <a:buAutoNum type="arabicPeriod" startAt="2"/>
            </a:pPr>
            <a:r>
              <a:rPr lang="en-US" sz="2000" dirty="0" smtClean="0"/>
              <a:t>Documentation update</a:t>
            </a:r>
            <a:endParaRPr lang="en-US" sz="2000" dirty="0"/>
          </a:p>
          <a:p>
            <a:pPr marL="457200" indent="-457200">
              <a:buAutoNum type="arabicPeriod" startAt="2"/>
            </a:pPr>
            <a:endParaRPr lang="en-US" sz="2000" dirty="0"/>
          </a:p>
        </p:txBody>
      </p:sp>
    </p:spTree>
    <p:extLst>
      <p:ext uri="{BB962C8B-B14F-4D97-AF65-F5344CB8AC3E}">
        <p14:creationId xmlns:p14="http://schemas.microsoft.com/office/powerpoint/2010/main" val="2739429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127" y="0"/>
            <a:ext cx="12108873" cy="6924973"/>
          </a:xfrm>
          <a:prstGeom prst="rect">
            <a:avLst/>
          </a:prstGeom>
          <a:noFill/>
        </p:spPr>
        <p:txBody>
          <a:bodyPr wrap="square" rtlCol="0">
            <a:spAutoFit/>
          </a:bodyPr>
          <a:lstStyle/>
          <a:p>
            <a:r>
              <a:rPr lang="en-US" sz="3200" dirty="0" smtClean="0">
                <a:solidFill>
                  <a:srgbClr val="336699"/>
                </a:solidFill>
              </a:rPr>
              <a:t>SECTION 9: Governance, PMO Structure &amp; development Approach</a:t>
            </a:r>
          </a:p>
          <a:p>
            <a:endParaRPr lang="en-US" sz="3200" dirty="0">
              <a:solidFill>
                <a:srgbClr val="336699"/>
              </a:solidFill>
            </a:endParaRPr>
          </a:p>
          <a:p>
            <a:endParaRPr lang="en-US" sz="3200" dirty="0">
              <a:solidFill>
                <a:srgbClr val="336699"/>
              </a:solidFill>
            </a:endParaRPr>
          </a:p>
          <a:p>
            <a:r>
              <a:rPr lang="en-US" sz="2400" dirty="0" smtClean="0">
                <a:solidFill>
                  <a:srgbClr val="336699"/>
                </a:solidFill>
              </a:rPr>
              <a:t>PM Analysis- How to Approach Governance</a:t>
            </a:r>
          </a:p>
          <a:p>
            <a:r>
              <a:rPr lang="en-US" sz="2000" dirty="0" smtClean="0"/>
              <a:t>Governance in an agricultural farm and marketing plan is creating a clear system for decision-making, accountability, supervision, communication, and compliance within the farm business and its marketing activities. Governance requires written policies that guide activities.</a:t>
            </a:r>
          </a:p>
          <a:p>
            <a:endParaRPr lang="en-US" sz="2000" dirty="0"/>
          </a:p>
          <a:p>
            <a:r>
              <a:rPr lang="en-US" sz="2000" dirty="0">
                <a:solidFill>
                  <a:srgbClr val="336699"/>
                </a:solidFill>
              </a:rPr>
              <a:t>P</a:t>
            </a:r>
            <a:r>
              <a:rPr lang="en-US" sz="2000" dirty="0" smtClean="0">
                <a:solidFill>
                  <a:srgbClr val="336699"/>
                </a:solidFill>
              </a:rPr>
              <a:t>roject </a:t>
            </a:r>
            <a:r>
              <a:rPr lang="en-US" sz="2400" dirty="0" smtClean="0">
                <a:solidFill>
                  <a:srgbClr val="336699"/>
                </a:solidFill>
              </a:rPr>
              <a:t>Governance</a:t>
            </a:r>
          </a:p>
          <a:p>
            <a:r>
              <a:rPr lang="en-US" sz="2000" dirty="0" smtClean="0"/>
              <a:t>The project will adopt a functional governance structure where project decision are coordinated through the project manager with oversight from the project sponsor</a:t>
            </a:r>
          </a:p>
          <a:p>
            <a:endParaRPr lang="en-US" sz="2000" dirty="0"/>
          </a:p>
          <a:p>
            <a:r>
              <a:rPr lang="en-US" sz="2000" dirty="0" smtClean="0"/>
              <a:t>The governance structure ensures: </a:t>
            </a:r>
            <a:endParaRPr lang="en-US" sz="2000" dirty="0"/>
          </a:p>
          <a:p>
            <a:pPr marL="342900" indent="-342900">
              <a:buFont typeface="Arial" panose="020B0604020202020204" pitchFamily="34" charset="0"/>
              <a:buChar char="•"/>
            </a:pPr>
            <a:r>
              <a:rPr lang="en-US" sz="2000" dirty="0" smtClean="0"/>
              <a:t>Accountability</a:t>
            </a:r>
          </a:p>
          <a:p>
            <a:pPr marL="342900" indent="-342900">
              <a:buFont typeface="Arial" panose="020B0604020202020204" pitchFamily="34" charset="0"/>
              <a:buChar char="•"/>
            </a:pPr>
            <a:endParaRPr lang="en-US" sz="2000" dirty="0" smtClean="0"/>
          </a:p>
          <a:p>
            <a:pPr marL="342900" indent="-342900">
              <a:buFont typeface="Arial" panose="020B0604020202020204" pitchFamily="34" charset="0"/>
              <a:buChar char="•"/>
            </a:pPr>
            <a:r>
              <a:rPr lang="en-US" sz="2000" dirty="0" smtClean="0"/>
              <a:t>Effective decision-making</a:t>
            </a:r>
          </a:p>
          <a:p>
            <a:pPr marL="342900" indent="-342900">
              <a:buFont typeface="Arial" panose="020B0604020202020204" pitchFamily="34" charset="0"/>
              <a:buChar char="•"/>
            </a:pPr>
            <a:endParaRPr lang="en-US" sz="2000" dirty="0" smtClean="0"/>
          </a:p>
          <a:p>
            <a:pPr marL="342900" indent="-342900">
              <a:buFont typeface="Arial" panose="020B0604020202020204" pitchFamily="34" charset="0"/>
              <a:buChar char="•"/>
            </a:pPr>
            <a:r>
              <a:rPr lang="en-US" sz="2000" dirty="0" smtClean="0"/>
              <a:t>Proper communication</a:t>
            </a:r>
          </a:p>
          <a:p>
            <a:endParaRPr lang="en-US" sz="2000" dirty="0" smtClean="0"/>
          </a:p>
          <a:p>
            <a:pPr marL="342900" indent="-342900">
              <a:buFont typeface="Arial" panose="020B0604020202020204" pitchFamily="34" charset="0"/>
              <a:buChar char="•"/>
            </a:pPr>
            <a:r>
              <a:rPr lang="en-US" sz="2000" dirty="0" smtClean="0"/>
              <a:t>Resource coordination</a:t>
            </a:r>
          </a:p>
        </p:txBody>
      </p:sp>
      <p:cxnSp>
        <p:nvCxnSpPr>
          <p:cNvPr id="4" name="Straight Connector 3"/>
          <p:cNvCxnSpPr/>
          <p:nvPr/>
        </p:nvCxnSpPr>
        <p:spPr>
          <a:xfrm flipV="1">
            <a:off x="221673" y="979055"/>
            <a:ext cx="11545454" cy="1847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7417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0836" y="64655"/>
            <a:ext cx="12081164" cy="6617196"/>
          </a:xfrm>
          <a:prstGeom prst="rect">
            <a:avLst/>
          </a:prstGeom>
          <a:noFill/>
        </p:spPr>
        <p:txBody>
          <a:bodyPr wrap="square" rtlCol="0">
            <a:spAutoFit/>
          </a:bodyPr>
          <a:lstStyle/>
          <a:p>
            <a:r>
              <a:rPr lang="en-US" dirty="0" smtClean="0"/>
              <a:t>  </a:t>
            </a:r>
            <a:r>
              <a:rPr lang="en-US" sz="2400" dirty="0" smtClean="0">
                <a:solidFill>
                  <a:srgbClr val="336699"/>
                </a:solidFill>
              </a:rPr>
              <a:t>PMO Structure</a:t>
            </a:r>
          </a:p>
          <a:p>
            <a:r>
              <a:rPr lang="en-US" sz="2400" dirty="0" smtClean="0">
                <a:solidFill>
                  <a:srgbClr val="336699"/>
                </a:solidFill>
              </a:rPr>
              <a:t>  </a:t>
            </a:r>
            <a:r>
              <a:rPr lang="en-US" dirty="0" smtClean="0"/>
              <a:t>Selected PMO Type</a:t>
            </a:r>
          </a:p>
          <a:p>
            <a:r>
              <a:rPr lang="en-US" dirty="0" smtClean="0"/>
              <a:t> </a:t>
            </a:r>
            <a:endParaRPr lang="en-US" b="1" dirty="0" smtClean="0"/>
          </a:p>
          <a:p>
            <a:r>
              <a:rPr lang="en-US" b="1" dirty="0" smtClean="0"/>
              <a:t> Supportive  PMO</a:t>
            </a:r>
          </a:p>
          <a:p>
            <a:endParaRPr lang="en-US" b="1" dirty="0"/>
          </a:p>
          <a:p>
            <a:r>
              <a:rPr lang="en-US" sz="2400" dirty="0" smtClean="0">
                <a:solidFill>
                  <a:srgbClr val="336699"/>
                </a:solidFill>
              </a:rPr>
              <a:t>Reason For Selection</a:t>
            </a:r>
          </a:p>
          <a:p>
            <a:r>
              <a:rPr lang="en-US" b="1" dirty="0"/>
              <a:t> </a:t>
            </a:r>
            <a:r>
              <a:rPr lang="en-US" dirty="0" smtClean="0"/>
              <a:t>A supportive PMO is suitable because it provides templates, guidance, documentation support, and best practices without excessive control over project activities.</a:t>
            </a:r>
          </a:p>
          <a:p>
            <a:endParaRPr lang="en-US" dirty="0"/>
          </a:p>
          <a:p>
            <a:r>
              <a:rPr lang="en-US" sz="2400" dirty="0" smtClean="0">
                <a:solidFill>
                  <a:srgbClr val="336699"/>
                </a:solidFill>
              </a:rPr>
              <a:t>Development Approach</a:t>
            </a:r>
          </a:p>
          <a:p>
            <a:r>
              <a:rPr lang="en-US" sz="2000" dirty="0" smtClean="0"/>
              <a:t> Agile Methodology </a:t>
            </a:r>
          </a:p>
          <a:p>
            <a:r>
              <a:rPr lang="en-US" sz="2000"/>
              <a:t> </a:t>
            </a:r>
            <a:r>
              <a:rPr lang="en-US" sz="2000" smtClean="0">
                <a:solidFill>
                  <a:srgbClr val="336699"/>
                </a:solidFill>
              </a:rPr>
              <a:t>Reason </a:t>
            </a:r>
            <a:r>
              <a:rPr lang="en-US" sz="2000" dirty="0" smtClean="0">
                <a:solidFill>
                  <a:srgbClr val="336699"/>
                </a:solidFill>
              </a:rPr>
              <a:t>For Selection</a:t>
            </a:r>
          </a:p>
          <a:p>
            <a:r>
              <a:rPr lang="en-US" sz="2000" dirty="0">
                <a:solidFill>
                  <a:srgbClr val="336699"/>
                </a:solidFill>
              </a:rPr>
              <a:t> </a:t>
            </a:r>
            <a:r>
              <a:rPr lang="en-US" sz="2000" dirty="0" smtClean="0"/>
              <a:t>Agile methodology is appropriate because:</a:t>
            </a:r>
          </a:p>
          <a:p>
            <a:endParaRPr lang="en-US" sz="2000" dirty="0"/>
          </a:p>
          <a:p>
            <a:pPr marL="342900" indent="-342900">
              <a:buFont typeface="Arial" panose="020B0604020202020204" pitchFamily="34" charset="0"/>
              <a:buChar char="•"/>
            </a:pPr>
            <a:r>
              <a:rPr lang="en-US" sz="2000" dirty="0" smtClean="0"/>
              <a:t>It supports continuous improvement</a:t>
            </a:r>
          </a:p>
          <a:p>
            <a:pPr marL="342900" indent="-342900">
              <a:buFont typeface="Arial" panose="020B0604020202020204" pitchFamily="34" charset="0"/>
              <a:buChar char="•"/>
            </a:pPr>
            <a:endParaRPr lang="en-US" sz="2000" dirty="0" smtClean="0"/>
          </a:p>
          <a:p>
            <a:pPr marL="342900" indent="-342900">
              <a:buFont typeface="Arial" panose="020B0604020202020204" pitchFamily="34" charset="0"/>
              <a:buChar char="•"/>
            </a:pPr>
            <a:r>
              <a:rPr lang="en-US" sz="2000" dirty="0" smtClean="0"/>
              <a:t>Stakeholder feedback can be incorporated easily</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smtClean="0"/>
              <a:t>Development occurs in manageable iterations.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smtClean="0"/>
              <a:t>It improves flexibility and adaptability.</a:t>
            </a:r>
            <a:endParaRPr lang="en-US" sz="2000" dirty="0"/>
          </a:p>
        </p:txBody>
      </p:sp>
    </p:spTree>
    <p:extLst>
      <p:ext uri="{BB962C8B-B14F-4D97-AF65-F5344CB8AC3E}">
        <p14:creationId xmlns:p14="http://schemas.microsoft.com/office/powerpoint/2010/main" val="1780894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8545" y="64655"/>
            <a:ext cx="12053455" cy="3539430"/>
          </a:xfrm>
          <a:prstGeom prst="rect">
            <a:avLst/>
          </a:prstGeom>
          <a:noFill/>
        </p:spPr>
        <p:txBody>
          <a:bodyPr wrap="square" rtlCol="0">
            <a:spAutoFit/>
          </a:bodyPr>
          <a:lstStyle/>
          <a:p>
            <a:r>
              <a:rPr lang="en-US" sz="3200" dirty="0" smtClean="0">
                <a:solidFill>
                  <a:srgbClr val="336699"/>
                </a:solidFill>
              </a:rPr>
              <a:t>CONCLUSION</a:t>
            </a:r>
          </a:p>
          <a:p>
            <a:endParaRPr lang="en-US" sz="3200" dirty="0">
              <a:solidFill>
                <a:srgbClr val="336699"/>
              </a:solidFill>
            </a:endParaRPr>
          </a:p>
          <a:p>
            <a:endParaRPr lang="en-US" sz="2000" dirty="0" smtClean="0"/>
          </a:p>
          <a:p>
            <a:r>
              <a:rPr lang="en-US" sz="2000" dirty="0" smtClean="0"/>
              <a:t>The development of an integrated agricultural farm and marketing management system will significantly improve agricultural operation through digital transformation. The project provides an efficient solution for managing farm</a:t>
            </a:r>
          </a:p>
          <a:p>
            <a:r>
              <a:rPr lang="en-US" sz="2000" dirty="0" smtClean="0"/>
              <a:t>Records, inventory, customer, relationships, and product marketing.</a:t>
            </a:r>
          </a:p>
          <a:p>
            <a:endParaRPr lang="en-US" sz="2000" dirty="0"/>
          </a:p>
          <a:p>
            <a:r>
              <a:rPr lang="en-US" sz="2000" dirty="0" smtClean="0"/>
              <a:t>By implementing proper project management practices including planning, scheduling, budgeting, stakeholder, engagement, risk management, quality assurance, and governance, the project is expected to achieve its objectives successfully while delivering value to farmers and </a:t>
            </a:r>
            <a:r>
              <a:rPr lang="en-US" sz="2000" smtClean="0"/>
              <a:t>customers alike.</a:t>
            </a:r>
            <a:endParaRPr lang="en-US" sz="2000" dirty="0" smtClean="0"/>
          </a:p>
        </p:txBody>
      </p:sp>
      <p:cxnSp>
        <p:nvCxnSpPr>
          <p:cNvPr id="4" name="Straight Connector 3"/>
          <p:cNvCxnSpPr/>
          <p:nvPr/>
        </p:nvCxnSpPr>
        <p:spPr>
          <a:xfrm flipV="1">
            <a:off x="267855" y="1006764"/>
            <a:ext cx="11684000" cy="2770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0249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1522</TotalTime>
  <Words>2020</Words>
  <Application>Microsoft Office PowerPoint</Application>
  <PresentationFormat>Widescreen</PresentationFormat>
  <Paragraphs>350</Paragraphs>
  <Slides>22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PROJECT MANAGEMENT PLAN.  Development Of Agricultural Farm and Marketing Plan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 PLAN.  Development Of Agricultural and Marketing System In Nigeria.</dc:title>
  <dc:creator>User</dc:creator>
  <cp:lastModifiedBy>Microsoft account</cp:lastModifiedBy>
  <cp:revision>152</cp:revision>
  <dcterms:created xsi:type="dcterms:W3CDTF">2026-05-12T16:05:41Z</dcterms:created>
  <dcterms:modified xsi:type="dcterms:W3CDTF">2026-10-21T11:55:25Z</dcterms:modified>
</cp:coreProperties>
</file>